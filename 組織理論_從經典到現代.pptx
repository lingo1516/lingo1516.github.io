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94960"/>
            <a:ext cx="12191695" cy="1463040"/>
          </a:xfrm>
          <a:prstGeom prst="rect">
            <a:avLst/>
          </a:prstGeom>
          <a:solidFill>
            <a:srgbClr val="16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1920240"/>
            <a:ext cx="1005840" cy="91440"/>
          </a:xfrm>
          <a:prstGeom prst="rect">
            <a:avLst/>
          </a:prstGeom>
          <a:solidFill>
            <a:srgbClr val="E883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240280"/>
            <a:ext cx="105156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5400" b="1" i="0">
                <a:solidFill>
                  <a:srgbClr val="FFFFFF"/>
                </a:solidFill>
                <a:latin typeface="PingFang TC"/>
                <a:ea typeface="PingFang TC"/>
              </a:rPr>
              <a:t>組織理論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42900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000" b="0" i="0">
                <a:solidFill>
                  <a:srgbClr val="B9C6DC"/>
                </a:solidFill>
                <a:latin typeface="PingFang TC"/>
                <a:ea typeface="PingFang TC"/>
              </a:rPr>
              <a:t>從經典到現代 ｜ Organization Theory: Classic to Contemporary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7150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 i="0">
                <a:solidFill>
                  <a:srgbClr val="9AACC9"/>
                </a:solidFill>
                <a:latin typeface="PingFang TC"/>
                <a:ea typeface="PingFang TC"/>
              </a:rPr>
              <a:t>教學簡報 · 共 31 頁 ｜ 2026 年 10 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9875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800" b="1" i="0">
                <a:solidFill>
                  <a:srgbClr val="1F3864"/>
                </a:solidFill>
                <a:latin typeface="PingFang TC"/>
                <a:ea typeface="PingFang TC"/>
              </a:rPr>
              <a:t>學習地圖：七大主題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960120"/>
            <a:ext cx="1371600" cy="54864"/>
          </a:xfrm>
          <a:prstGeom prst="rect">
            <a:avLst/>
          </a:prstGeom>
          <a:solidFill>
            <a:srgbClr val="E883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 i="0">
                <a:solidFill>
                  <a:srgbClr val="8A93A3"/>
                </a:solidFill>
                <a:latin typeface="PingFang TC"/>
                <a:ea typeface="PingFang TC"/>
              </a:rPr>
              <a:t>組織理論｜從經典到現代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73952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000" b="1" i="0">
                <a:solidFill>
                  <a:srgbClr val="8A93A3"/>
                </a:solidFill>
                <a:latin typeface="PingFang TC"/>
                <a:ea typeface="PingFang TC"/>
              </a:rP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298448"/>
            <a:ext cx="548640" cy="548640"/>
          </a:xfrm>
          <a:prstGeom prst="round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389888"/>
            <a:ext cx="5486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PingFang TC"/>
                <a:ea typeface="PingFang TC"/>
              </a:rPr>
              <a:t>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1316736"/>
            <a:ext cx="3108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700" b="1" i="0">
                <a:solidFill>
                  <a:srgbClr val="1F3864"/>
                </a:solidFill>
                <a:latin typeface="PingFang TC"/>
                <a:ea typeface="PingFang TC"/>
              </a:rPr>
              <a:t>古典學派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1353312"/>
            <a:ext cx="7315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 i="0">
                <a:solidFill>
                  <a:srgbClr val="333945"/>
                </a:solidFill>
                <a:latin typeface="PingFang TC"/>
                <a:ea typeface="PingFang TC"/>
              </a:rPr>
              <a:t>Weber 官僚制 · Taylor 科學管理 · Fayol 行政管理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011680"/>
            <a:ext cx="548640" cy="548640"/>
          </a:xfrm>
          <a:prstGeom prst="round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103120"/>
            <a:ext cx="5486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PingFang TC"/>
                <a:ea typeface="PingFang TC"/>
              </a:rPr>
              <a:t>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2029968"/>
            <a:ext cx="3108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700" b="1" i="0">
                <a:solidFill>
                  <a:srgbClr val="1F3864"/>
                </a:solidFill>
                <a:latin typeface="PingFang TC"/>
                <a:ea typeface="PingFang TC"/>
              </a:rPr>
              <a:t>人際關係學派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2066544"/>
            <a:ext cx="7315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 i="0">
                <a:solidFill>
                  <a:srgbClr val="333945"/>
                </a:solidFill>
                <a:latin typeface="PingFang TC"/>
                <a:ea typeface="PingFang TC"/>
              </a:rPr>
              <a:t>霍桑實驗 · Barnard 協作系統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2724912"/>
            <a:ext cx="548640" cy="548640"/>
          </a:xfrm>
          <a:prstGeom prst="round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2816352"/>
            <a:ext cx="5486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PingFang TC"/>
                <a:ea typeface="PingFang TC"/>
              </a:rPr>
              <a:t>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2743200"/>
            <a:ext cx="3108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700" b="1" i="0">
                <a:solidFill>
                  <a:srgbClr val="1F3864"/>
                </a:solidFill>
                <a:latin typeface="PingFang TC"/>
                <a:ea typeface="PingFang TC"/>
              </a:rPr>
              <a:t>開放系統與權變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2779776"/>
            <a:ext cx="7315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 i="0">
                <a:solidFill>
                  <a:srgbClr val="333945"/>
                </a:solidFill>
                <a:latin typeface="PingFang TC"/>
                <a:ea typeface="PingFang TC"/>
              </a:rPr>
              <a:t>開放系統觀點 · 機械/有機 · Thompson 三種技術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3438144"/>
            <a:ext cx="548640" cy="548640"/>
          </a:xfrm>
          <a:prstGeom prst="round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" y="3529584"/>
            <a:ext cx="5486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PingFang TC"/>
                <a:ea typeface="PingFang TC"/>
              </a:rPr>
              <a:t>④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3456432"/>
            <a:ext cx="3108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700" b="1" i="0">
                <a:solidFill>
                  <a:srgbClr val="1F3864"/>
                </a:solidFill>
                <a:latin typeface="PingFang TC"/>
                <a:ea typeface="PingFang TC"/>
              </a:rPr>
              <a:t>組織結構與設計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3493008"/>
            <a:ext cx="7315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 i="0">
                <a:solidFill>
                  <a:srgbClr val="333945"/>
                </a:solidFill>
                <a:latin typeface="PingFang TC"/>
                <a:ea typeface="PingFang TC"/>
              </a:rPr>
              <a:t>Mintzberg 五種結構 · 設計槓桿 · 結構對照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151376"/>
            <a:ext cx="548640" cy="548640"/>
          </a:xfrm>
          <a:prstGeom prst="round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4242816"/>
            <a:ext cx="5486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PingFang TC"/>
                <a:ea typeface="PingFang TC"/>
              </a:rPr>
              <a:t>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4169663"/>
            <a:ext cx="3108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700" b="1" i="0">
                <a:solidFill>
                  <a:srgbClr val="1F3864"/>
                </a:solidFill>
                <a:latin typeface="PingFang TC"/>
                <a:ea typeface="PingFang TC"/>
              </a:rPr>
              <a:t>學習與動態能力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0" y="4206240"/>
            <a:ext cx="7315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 i="0">
                <a:solidFill>
                  <a:srgbClr val="333945"/>
                </a:solidFill>
                <a:latin typeface="PingFang TC"/>
                <a:ea typeface="PingFang TC"/>
              </a:rPr>
              <a:t>核心 vs 動態能力 · 雙環學習 · 五項修練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4864608"/>
            <a:ext cx="548640" cy="548640"/>
          </a:xfrm>
          <a:prstGeom prst="round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6928" y="4956048"/>
            <a:ext cx="5486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PingFang TC"/>
                <a:ea typeface="PingFang TC"/>
              </a:rPr>
              <a:t>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25880" y="4882896"/>
            <a:ext cx="3108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700" b="1" i="0">
                <a:solidFill>
                  <a:srgbClr val="1F3864"/>
                </a:solidFill>
                <a:latin typeface="PingFang TC"/>
                <a:ea typeface="PingFang TC"/>
              </a:rPr>
              <a:t>組織變革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0560" y="4919472"/>
            <a:ext cx="7315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 i="0">
                <a:solidFill>
                  <a:srgbClr val="333945"/>
                </a:solidFill>
                <a:latin typeface="PingFang TC"/>
                <a:ea typeface="PingFang TC"/>
              </a:rPr>
              <a:t>Lewin 三階段 · Kotter 八步驟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5577840"/>
            <a:ext cx="548640" cy="548640"/>
          </a:xfrm>
          <a:prstGeom prst="round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66928" y="5669279"/>
            <a:ext cx="5486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PingFang TC"/>
                <a:ea typeface="PingFang TC"/>
              </a:rPr>
              <a:t>⑦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25880" y="5596127"/>
            <a:ext cx="3108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700" b="1" i="0">
                <a:solidFill>
                  <a:srgbClr val="1F3864"/>
                </a:solidFill>
                <a:latin typeface="PingFang TC"/>
                <a:ea typeface="PingFang TC"/>
              </a:rPr>
              <a:t>當代議題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80560" y="5632703"/>
            <a:ext cx="7315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 i="0">
                <a:solidFill>
                  <a:srgbClr val="333945"/>
                </a:solidFill>
                <a:latin typeface="PingFang TC"/>
                <a:ea typeface="PingFang TC"/>
              </a:rPr>
              <a:t>平台組織 · 敏捷×AI×遠距 · 台灣企業案例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9875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800" b="1" i="0">
                <a:solidFill>
                  <a:srgbClr val="1F3864"/>
                </a:solidFill>
                <a:latin typeface="PingFang TC"/>
                <a:ea typeface="PingFang TC"/>
              </a:rPr>
              <a:t>什麼是組織？什麼是組織理論？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960120"/>
            <a:ext cx="1371600" cy="54864"/>
          </a:xfrm>
          <a:prstGeom prst="rect">
            <a:avLst/>
          </a:prstGeom>
          <a:solidFill>
            <a:srgbClr val="E883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 i="0">
                <a:solidFill>
                  <a:srgbClr val="8A93A3"/>
                </a:solidFill>
                <a:latin typeface="PingFang TC"/>
                <a:ea typeface="PingFang TC"/>
              </a:rPr>
              <a:t>組織理論｜從經典到現代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73952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000" b="1" i="0">
                <a:solidFill>
                  <a:srgbClr val="8A93A3"/>
                </a:solidFill>
                <a:latin typeface="PingFang TC"/>
                <a:ea typeface="PingFang TC"/>
              </a:rP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234440"/>
            <a:ext cx="2377440" cy="384048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280160"/>
            <a:ext cx="23774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2E74B5"/>
                </a:solidFill>
                <a:latin typeface="PingFang TC"/>
                <a:ea typeface="PingFang TC"/>
              </a:rPr>
              <a:t>本講核心提問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325880"/>
            <a:ext cx="1106424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800" b="1" i="0">
                <a:solidFill>
                  <a:srgbClr val="E8830C"/>
                </a:solidFill>
                <a:latin typeface="PingFang TC"/>
                <a:ea typeface="PingFang TC"/>
              </a:rPr>
              <a:t>組織（Organization）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600" b="0" i="0">
                <a:solidFill>
                  <a:srgbClr val="333945"/>
                </a:solidFill>
                <a:latin typeface="PingFang TC"/>
                <a:ea typeface="PingFang TC"/>
              </a:rPr>
              <a:t>兩人以上、為達成共同目標而形成的協調性活動系統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600" b="0" i="0">
                <a:solidFill>
                  <a:srgbClr val="333945"/>
                </a:solidFill>
                <a:latin typeface="PingFang TC"/>
                <a:ea typeface="PingFang TC"/>
              </a:rPr>
              <a:t>三個永恆難題：如何分工？如何協調？如何適應環境？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800" b="1" i="0">
                <a:solidFill>
                  <a:srgbClr val="E8830C"/>
                </a:solidFill>
                <a:latin typeface="PingFang TC"/>
                <a:ea typeface="PingFang TC"/>
              </a:rPr>
              <a:t>組織理論（Organization Theory）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600" b="0" i="0">
                <a:solidFill>
                  <a:srgbClr val="333945"/>
                </a:solidFill>
                <a:latin typeface="PingFang TC"/>
                <a:ea typeface="PingFang TC"/>
              </a:rPr>
              <a:t>解釋「組織為何如此設計、如何運作、為何成功或失敗」的知識體系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600" b="0" i="0">
                <a:solidFill>
                  <a:srgbClr val="333945"/>
                </a:solidFill>
                <a:latin typeface="PingFang TC"/>
                <a:ea typeface="PingFang TC"/>
              </a:rPr>
              <a:t>不同學派 = 不同時代環境下的最佳答案（理論是時代的產物）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800" b="1" i="0">
                <a:solidFill>
                  <a:srgbClr val="E8830C"/>
                </a:solidFill>
                <a:latin typeface="PingFang TC"/>
                <a:ea typeface="PingFang TC"/>
              </a:rPr>
              <a:t>為什麼管理者需要它？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600" b="0" i="0">
                <a:solidFill>
                  <a:srgbClr val="333945"/>
                </a:solidFill>
                <a:latin typeface="PingFang TC"/>
                <a:ea typeface="PingFang TC"/>
              </a:rPr>
              <a:t>診斷組織問題 → 選擇合適的結構與管理方式 → 預期變革的阻力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03920" y="1371600"/>
            <a:ext cx="3108960" cy="475488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0" y="1600200"/>
            <a:ext cx="265176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500" b="1" i="0">
                <a:solidFill>
                  <a:srgbClr val="E8830C"/>
                </a:solidFill>
                <a:latin typeface="PingFang TC"/>
                <a:ea typeface="PingFang TC"/>
              </a:rPr>
              <a:t>貫穿全場的視角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1" i="0">
                <a:solidFill>
                  <a:srgbClr val="1F3864"/>
                </a:solidFill>
                <a:latin typeface="PingFang TC"/>
                <a:ea typeface="PingFang TC"/>
              </a:rPr>
              <a:t>封閉系統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300" b="0" i="0">
                <a:solidFill>
                  <a:srgbClr val="333945"/>
                </a:solidFill>
                <a:latin typeface="PingFang TC"/>
                <a:ea typeface="PingFang TC"/>
              </a:rPr>
              <a:t>只看組織內部
（古典學派）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600" b="1" i="0">
                <a:solidFill>
                  <a:srgbClr val="8A93A3"/>
                </a:solidFill>
                <a:latin typeface="PingFang TC"/>
                <a:ea typeface="PingFang TC"/>
              </a:rPr>
              <a:t>↓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1" i="0">
                <a:solidFill>
                  <a:srgbClr val="1F3864"/>
                </a:solidFill>
                <a:latin typeface="PingFang TC"/>
                <a:ea typeface="PingFang TC"/>
              </a:rPr>
              <a:t>開放系統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0" i="0">
                <a:solidFill>
                  <a:srgbClr val="333945"/>
                </a:solidFill>
                <a:latin typeface="PingFang TC"/>
                <a:ea typeface="PingFang TC"/>
              </a:rPr>
              <a:t>組織與環境互動
（權變、學習、變革）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331720"/>
            <a:ext cx="822960" cy="82296"/>
          </a:xfrm>
          <a:prstGeom prst="rect">
            <a:avLst/>
          </a:prstGeom>
          <a:solidFill>
            <a:srgbClr val="E883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3657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400" b="1" i="0">
                <a:solidFill>
                  <a:srgbClr val="E8830C"/>
                </a:solidFill>
                <a:latin typeface="PingFang TC"/>
                <a:ea typeface="PingFang TC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0604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4400" b="1" i="0">
                <a:solidFill>
                  <a:srgbClr val="FFFFFF"/>
                </a:solidFill>
                <a:latin typeface="PingFang TC"/>
                <a:ea typeface="PingFang TC"/>
              </a:rPr>
              <a:t>古典學派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033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00" b="0" i="0">
                <a:solidFill>
                  <a:srgbClr val="B9C6DC"/>
                </a:solidFill>
                <a:latin typeface="PingFang TC"/>
                <a:ea typeface="PingFang TC"/>
              </a:rPr>
              <a:t>1910s–1930s｜Weber · Taylor · Fayol — 組織管理的制度化起點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 i="0">
                <a:solidFill>
                  <a:srgbClr val="8A93A3"/>
                </a:solidFill>
                <a:latin typeface="PingFang TC"/>
                <a:ea typeface="PingFang TC"/>
              </a:rPr>
              <a:t>組織理論｜從經典到現代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73952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000" b="1" i="0">
                <a:solidFill>
                  <a:srgbClr val="8A93A3"/>
                </a:solidFill>
                <a:latin typeface="PingFang TC"/>
                <a:ea typeface="PingFang TC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9875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800" b="1" i="0">
                <a:solidFill>
                  <a:srgbClr val="1F3864"/>
                </a:solidFill>
                <a:latin typeface="PingFang TC"/>
                <a:ea typeface="PingFang TC"/>
              </a:rPr>
              <a:t>Weber 官僚制（Bureaucracy）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960120"/>
            <a:ext cx="1371600" cy="54864"/>
          </a:xfrm>
          <a:prstGeom prst="rect">
            <a:avLst/>
          </a:prstGeom>
          <a:solidFill>
            <a:srgbClr val="E883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104120" y="347472"/>
            <a:ext cx="1691640" cy="402336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04120" y="402336"/>
            <a:ext cx="1691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2E74B5"/>
                </a:solidFill>
                <a:latin typeface="PingFang TC"/>
                <a:ea typeface="PingFang TC"/>
              </a:rPr>
              <a:t>古典學派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 i="0">
                <a:solidFill>
                  <a:srgbClr val="8A93A3"/>
                </a:solidFill>
                <a:latin typeface="PingFang TC"/>
                <a:ea typeface="PingFang TC"/>
              </a:rPr>
              <a:t>組織理論｜從經典到現代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000" b="1" i="0">
                <a:solidFill>
                  <a:srgbClr val="8A93A3"/>
                </a:solidFill>
                <a:latin typeface="PingFang TC"/>
                <a:ea typeface="PingFang TC"/>
              </a:rPr>
              <a:t>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325880"/>
            <a:ext cx="1106424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800" b="1" i="0">
                <a:solidFill>
                  <a:srgbClr val="E8830C"/>
                </a:solidFill>
                <a:latin typeface="PingFang TC"/>
                <a:ea typeface="PingFang TC"/>
              </a:rPr>
              <a:t>核心主張：權威的三種類型</a:t>
            </a:r>
          </a:p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600" b="0" i="0">
                <a:solidFill>
                  <a:srgbClr val="333945"/>
                </a:solidFill>
                <a:latin typeface="PingFang TC"/>
                <a:ea typeface="PingFang TC"/>
              </a:rPr>
              <a:t>傳統型（世襲）｜魅力型（領袖）｜理性合法型（職位與規則）— 官僚制建立在第三種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800" b="1" i="0">
                <a:solidFill>
                  <a:srgbClr val="E8830C"/>
                </a:solidFill>
                <a:latin typeface="PingFang TC"/>
                <a:ea typeface="PingFang TC"/>
              </a:rPr>
              <a:t>官僚制的五大特徵</a:t>
            </a:r>
          </a:p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600" b="0" i="0">
                <a:solidFill>
                  <a:srgbClr val="333945"/>
                </a:solidFill>
                <a:latin typeface="PingFang TC"/>
                <a:ea typeface="PingFang TC"/>
              </a:rPr>
              <a:t>明確分工　•　層級節制　•　成文規章　•　非人情化　•　依資格任用與升遷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800" b="1" i="0">
                <a:solidFill>
                  <a:srgbClr val="E8830C"/>
                </a:solidFill>
                <a:latin typeface="PingFang TC"/>
                <a:ea typeface="PingFang TC"/>
              </a:rPr>
              <a:t>貢獻與批評</a:t>
            </a:r>
          </a:p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600" b="0" i="0">
                <a:solidFill>
                  <a:srgbClr val="333945"/>
                </a:solidFill>
                <a:latin typeface="PingFang TC"/>
                <a:ea typeface="PingFang TC"/>
              </a:rPr>
              <a:t>✓ 可預測、穩定、公平——大型組織效率的基礎（至今仍是政府、企業骨幹）</a:t>
            </a:r>
          </a:p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600" b="0" i="0">
                <a:solidFill>
                  <a:srgbClr val="333945"/>
                </a:solidFill>
                <a:latin typeface="PingFang TC"/>
                <a:ea typeface="PingFang TC"/>
              </a:rPr>
              <a:t>✗ 過度規則化 → 形式主義、僵化；Weber 稱之為「鐵牢籠（iron cage）」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9875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800" b="1" i="0">
                <a:solidFill>
                  <a:srgbClr val="1F3864"/>
                </a:solidFill>
                <a:latin typeface="PingFang TC"/>
                <a:ea typeface="PingFang TC"/>
              </a:rPr>
              <a:t>Taylor 科學管理（Scientific Management）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960120"/>
            <a:ext cx="1371600" cy="54864"/>
          </a:xfrm>
          <a:prstGeom prst="rect">
            <a:avLst/>
          </a:prstGeom>
          <a:solidFill>
            <a:srgbClr val="E883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104120" y="347472"/>
            <a:ext cx="1691640" cy="402336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04120" y="402336"/>
            <a:ext cx="1691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2E74B5"/>
                </a:solidFill>
                <a:latin typeface="PingFang TC"/>
                <a:ea typeface="PingFang TC"/>
              </a:rPr>
              <a:t>古典學派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 i="0">
                <a:solidFill>
                  <a:srgbClr val="8A93A3"/>
                </a:solidFill>
                <a:latin typeface="PingFang TC"/>
                <a:ea typeface="PingFang TC"/>
              </a:rPr>
              <a:t>組織理論｜從經典到現代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000" b="1" i="0">
                <a:solidFill>
                  <a:srgbClr val="8A93A3"/>
                </a:solidFill>
                <a:latin typeface="PingFang TC"/>
                <a:ea typeface="PingFang TC"/>
              </a:rPr>
              <a:t>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325880"/>
            <a:ext cx="1106424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800" b="1" i="0">
                <a:solidFill>
                  <a:srgbClr val="E8830C"/>
                </a:solidFill>
                <a:latin typeface="PingFang TC"/>
                <a:ea typeface="PingFang TC"/>
              </a:rPr>
              <a:t>核心主張：以科學取代經驗法則</a:t>
            </a:r>
          </a:p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600" b="0" i="0">
                <a:solidFill>
                  <a:srgbClr val="333945"/>
                </a:solidFill>
                <a:latin typeface="PingFang TC"/>
                <a:ea typeface="PingFang TC"/>
              </a:rPr>
              <a:t>動作與時間研究 → 找出「最佳方法」並標準化</a:t>
            </a:r>
          </a:p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600" b="0" i="0">
                <a:solidFill>
                  <a:srgbClr val="333945"/>
                </a:solidFill>
                <a:latin typeface="PingFang TC"/>
                <a:ea typeface="PingFang TC"/>
              </a:rPr>
              <a:t>科學選才與訓練　•　差別計件工資（產能掛鉤的激因）</a:t>
            </a:r>
          </a:p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600" b="0" i="0">
                <a:solidFill>
                  <a:srgbClr val="333945"/>
                </a:solidFill>
                <a:latin typeface="PingFang TC"/>
                <a:ea typeface="PingFang TC"/>
              </a:rPr>
              <a:t>計畫與執行分離：管理者負責規劃，工人負責操作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800" b="1" i="0">
                <a:solidFill>
                  <a:srgbClr val="E8830C"/>
                </a:solidFill>
                <a:latin typeface="PingFang TC"/>
                <a:ea typeface="PingFang TC"/>
              </a:rPr>
              <a:t>歷史定位</a:t>
            </a:r>
          </a:p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600" b="0" i="0">
                <a:solidFill>
                  <a:srgbClr val="333945"/>
                </a:solidFill>
                <a:latin typeface="PingFang TC"/>
                <a:ea typeface="PingFang TC"/>
              </a:rPr>
              <a:t>把「管理」變成一門可以研究、教學的學問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800" b="1" i="0">
                <a:solidFill>
                  <a:srgbClr val="E8830C"/>
                </a:solidFill>
                <a:latin typeface="PingFang TC"/>
                <a:ea typeface="PingFang TC"/>
              </a:rPr>
              <a:t>批評</a:t>
            </a:r>
          </a:p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600" b="0" i="0">
                <a:solidFill>
                  <a:srgbClr val="333945"/>
                </a:solidFill>
                <a:latin typeface="PingFang TC"/>
                <a:ea typeface="PingFang TC"/>
              </a:rPr>
              <a:t>把人視為生產要素；忽視心理與社會需求 → 為霍桑實驗埋下反思伏筆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03920" y="1371600"/>
            <a:ext cx="3108960" cy="448056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0" y="1600200"/>
            <a:ext cx="265176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500" b="1" i="0">
                <a:solidFill>
                  <a:srgbClr val="E8830C"/>
                </a:solidFill>
                <a:latin typeface="PingFang TC"/>
                <a:ea typeface="PingFang TC"/>
              </a:rPr>
              <a:t>一句話記憶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600" b="1" i="0">
                <a:solidFill>
                  <a:srgbClr val="1F3864"/>
                </a:solidFill>
                <a:latin typeface="PingFang TC"/>
                <a:ea typeface="PingFang TC"/>
              </a:rPr>
              <a:t>「用科學方法，
把對的事做對。」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00" b="1" i="0">
                <a:solidFill>
                  <a:srgbClr val="E8830C"/>
                </a:solidFill>
                <a:latin typeface="PingFang TC"/>
                <a:ea typeface="PingFang TC"/>
              </a:rPr>
              <a:t>適用情境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0" i="0">
                <a:solidFill>
                  <a:srgbClr val="333945"/>
                </a:solidFill>
                <a:latin typeface="PingFang TC"/>
                <a:ea typeface="PingFang TC"/>
              </a:rPr>
              <a:t>工作可標準化、
產量可衡量的現場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9875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800" b="1" i="0">
                <a:solidFill>
                  <a:srgbClr val="1F3864"/>
                </a:solidFill>
                <a:latin typeface="PingFang TC"/>
                <a:ea typeface="PingFang TC"/>
              </a:rPr>
              <a:t>Fayol 行政管理理論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960120"/>
            <a:ext cx="1371600" cy="54864"/>
          </a:xfrm>
          <a:prstGeom prst="rect">
            <a:avLst/>
          </a:prstGeom>
          <a:solidFill>
            <a:srgbClr val="E883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104120" y="347472"/>
            <a:ext cx="1691640" cy="402336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04120" y="402336"/>
            <a:ext cx="1691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2E74B5"/>
                </a:solidFill>
                <a:latin typeface="PingFang TC"/>
                <a:ea typeface="PingFang TC"/>
              </a:rPr>
              <a:t>古典學派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 i="0">
                <a:solidFill>
                  <a:srgbClr val="8A93A3"/>
                </a:solidFill>
                <a:latin typeface="PingFang TC"/>
                <a:ea typeface="PingFang TC"/>
              </a:rPr>
              <a:t>組織理論｜從經典到現代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000" b="1" i="0">
                <a:solidFill>
                  <a:srgbClr val="8A93A3"/>
                </a:solidFill>
                <a:latin typeface="PingFang TC"/>
                <a:ea typeface="PingFang TC"/>
              </a:rPr>
              <a:t>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325880"/>
            <a:ext cx="1106424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800" b="1" i="0">
                <a:solidFill>
                  <a:srgbClr val="E8830C"/>
                </a:solidFill>
                <a:latin typeface="PingFang TC"/>
                <a:ea typeface="PingFang TC"/>
              </a:rPr>
              <a:t>管理五大職能（至今教科書仍沿用）</a:t>
            </a:r>
          </a:p>
          <a:p>
            <a:pPr algn="l">
              <a:lnSpc>
                <a:spcPct val="112000"/>
              </a:lnSpc>
              <a:spcAft>
                <a:spcPts val="1600"/>
              </a:spcAft>
            </a:pPr>
            <a:r>
              <a:rPr sz="100" b="0" i="0">
                <a:solidFill>
                  <a:srgbClr val="2E74B5"/>
                </a:solidFill>
                <a:latin typeface="PingFang TC"/>
                <a:ea typeface="PingFang TC"/>
              </a:rPr>
              <a:t>計劃 → 組織 → 指揮 → 協調 → 控制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800" b="1" i="0">
                <a:solidFill>
                  <a:srgbClr val="E8830C"/>
                </a:solidFill>
                <a:latin typeface="PingFang TC"/>
                <a:ea typeface="PingFang TC"/>
              </a:rPr>
              <a:t>14 原則精選</a:t>
            </a:r>
          </a:p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600" b="0" i="0">
                <a:solidFill>
                  <a:srgbClr val="333945"/>
                </a:solidFill>
                <a:latin typeface="PingFang TC"/>
                <a:ea typeface="PingFang TC"/>
              </a:rPr>
              <a:t>分工　•　權責一致　•　統一指揮（一人只聽一個上司）　•　統一方向</a:t>
            </a:r>
          </a:p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600" b="0" i="0">
                <a:solidFill>
                  <a:srgbClr val="333945"/>
                </a:solidFill>
                <a:latin typeface="PingFang TC"/>
                <a:ea typeface="PingFang TC"/>
              </a:rPr>
              <a:t>層級鏈（跳板原則可例外）　•　公平　•　人員穩定　•　團隊精神（esprit de corps）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800" b="1" i="0">
                <a:solidFill>
                  <a:srgbClr val="E8830C"/>
                </a:solidFill>
                <a:latin typeface="PingFang TC"/>
                <a:ea typeface="PingFang TC"/>
              </a:rPr>
              <a:t>與 Taylor 的差異</a:t>
            </a:r>
          </a:p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600" b="0" i="0">
                <a:solidFill>
                  <a:srgbClr val="333945"/>
                </a:solidFill>
                <a:latin typeface="PingFang TC"/>
                <a:ea typeface="PingFang TC"/>
              </a:rPr>
              <a:t>Taylor 由「車間」往上看重視作業效率；Fayol 由「董事長」往下看整體管理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9875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800" b="1" i="0">
                <a:solidFill>
                  <a:srgbClr val="1F3864"/>
                </a:solidFill>
                <a:latin typeface="PingFang TC"/>
                <a:ea typeface="PingFang TC"/>
              </a:rPr>
              <a:t>古典學派總評：貢獻與限制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960120"/>
            <a:ext cx="1371600" cy="54864"/>
          </a:xfrm>
          <a:prstGeom prst="rect">
            <a:avLst/>
          </a:prstGeom>
          <a:solidFill>
            <a:srgbClr val="E883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 i="0">
                <a:solidFill>
                  <a:srgbClr val="8A93A3"/>
                </a:solidFill>
                <a:latin typeface="PingFang TC"/>
                <a:ea typeface="PingFang TC"/>
              </a:rPr>
              <a:t>組織理論｜從經典到現代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73952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000" b="1" i="0">
                <a:solidFill>
                  <a:srgbClr val="8A93A3"/>
                </a:solidFill>
                <a:latin typeface="PingFang TC"/>
                <a:ea typeface="PingFang TC"/>
              </a:rPr>
              <a:t>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371600"/>
            <a:ext cx="5349240" cy="4846320"/>
          </a:xfrm>
          <a:prstGeom prst="roundRect">
            <a:avLst/>
          </a:prstGeom>
          <a:solidFill>
            <a:srgbClr val="E9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66928" y="1371600"/>
            <a:ext cx="5349240" cy="566928"/>
          </a:xfrm>
          <a:prstGeom prst="round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1490472"/>
            <a:ext cx="4937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PingFang TC"/>
                <a:ea typeface="PingFang TC"/>
              </a:rPr>
              <a:t>✓ 貢獻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103120"/>
            <a:ext cx="4846320" cy="39776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1500"/>
              </a:spcAft>
            </a:pPr>
            <a:r>
              <a:rPr sz="1600" b="0" i="0">
                <a:solidFill>
                  <a:srgbClr val="333945"/>
                </a:solidFill>
                <a:latin typeface="PingFang TC"/>
                <a:ea typeface="PingFang TC"/>
              </a:rPr>
              <a:t>確立組織設計的基本元件：
　分工、層級、規章、職權</a:t>
            </a:r>
          </a:p>
          <a:p>
            <a:pPr algn="l">
              <a:lnSpc>
                <a:spcPct val="112000"/>
              </a:lnSpc>
              <a:spcAft>
                <a:spcPts val="1500"/>
              </a:spcAft>
            </a:pPr>
            <a:r>
              <a:rPr sz="1600" b="0" i="0">
                <a:solidFill>
                  <a:srgbClr val="333945"/>
                </a:solidFill>
                <a:latin typeface="PingFang TC"/>
                <a:ea typeface="PingFang TC"/>
              </a:rPr>
              <a:t>讓大型組織「可管理、可複製」</a:t>
            </a:r>
          </a:p>
          <a:p>
            <a:pPr algn="l">
              <a:lnSpc>
                <a:spcPct val="112000"/>
              </a:lnSpc>
              <a:spcAft>
                <a:spcPts val="1500"/>
              </a:spcAft>
            </a:pPr>
            <a:r>
              <a:rPr sz="1600" b="0" i="0">
                <a:solidFill>
                  <a:srgbClr val="333945"/>
                </a:solidFill>
                <a:latin typeface="PingFang TC"/>
                <a:ea typeface="PingFang TC"/>
              </a:rPr>
              <a:t>Fayol 職能架構至今仍是
　管理教育的骨架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371600"/>
            <a:ext cx="5349240" cy="4846320"/>
          </a:xfrm>
          <a:prstGeom prst="roundRect">
            <a:avLst/>
          </a:prstGeom>
          <a:solidFill>
            <a:srgbClr val="FBE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1371600"/>
            <a:ext cx="5349240" cy="566928"/>
          </a:xfrm>
          <a:prstGeom prst="round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490472"/>
            <a:ext cx="4937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PingFang TC"/>
                <a:ea typeface="PingFang TC"/>
              </a:rPr>
              <a:t>✗ 限制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59" y="2103120"/>
            <a:ext cx="4846320" cy="39776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1500"/>
              </a:spcAft>
            </a:pPr>
            <a:r>
              <a:rPr sz="1600" b="0" i="0">
                <a:solidFill>
                  <a:srgbClr val="333945"/>
                </a:solidFill>
                <a:latin typeface="PingFang TC"/>
                <a:ea typeface="PingFang TC"/>
              </a:rPr>
              <a:t>封閉系統假設：不看環境變化</a:t>
            </a:r>
          </a:p>
          <a:p>
            <a:pPr algn="l">
              <a:lnSpc>
                <a:spcPct val="112000"/>
              </a:lnSpc>
              <a:spcAft>
                <a:spcPts val="1500"/>
              </a:spcAft>
            </a:pPr>
            <a:r>
              <a:rPr sz="1600" b="0" i="0">
                <a:solidFill>
                  <a:srgbClr val="333945"/>
                </a:solidFill>
                <a:latin typeface="PingFang TC"/>
                <a:ea typeface="PingFang TC"/>
              </a:rPr>
              <a:t>把人當機器：忽略非正式組織、
　社會與心理需求</a:t>
            </a:r>
          </a:p>
          <a:p>
            <a:pPr algn="l">
              <a:lnSpc>
                <a:spcPct val="112000"/>
              </a:lnSpc>
              <a:spcAft>
                <a:spcPts val="1500"/>
              </a:spcAft>
            </a:pPr>
            <a:r>
              <a:rPr sz="1600" b="0" i="0">
                <a:solidFill>
                  <a:srgbClr val="333945"/>
                </a:solidFill>
                <a:latin typeface="PingFang TC"/>
                <a:ea typeface="PingFang TC"/>
              </a:rPr>
              <a:t>「一體適用」的最佳解，
　被權變學派推翻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331720"/>
            <a:ext cx="822960" cy="82296"/>
          </a:xfrm>
          <a:prstGeom prst="rect">
            <a:avLst/>
          </a:prstGeom>
          <a:solidFill>
            <a:srgbClr val="E883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3657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400" b="1" i="0">
                <a:solidFill>
                  <a:srgbClr val="E8830C"/>
                </a:solidFill>
                <a:latin typeface="PingFang TC"/>
                <a:ea typeface="PingFang TC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0604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4400" b="1" i="0">
                <a:solidFill>
                  <a:srgbClr val="FFFFFF"/>
                </a:solidFill>
                <a:latin typeface="PingFang TC"/>
                <a:ea typeface="PingFang TC"/>
              </a:rPr>
              <a:t>人際關係學派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033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00" b="0" i="0">
                <a:solidFill>
                  <a:srgbClr val="B9C6DC"/>
                </a:solidFill>
                <a:latin typeface="PingFang TC"/>
                <a:ea typeface="PingFang TC"/>
              </a:rPr>
              <a:t>1930s–1950s｜從「經濟人」到「社會人」的轉向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 i="0">
                <a:solidFill>
                  <a:srgbClr val="8A93A3"/>
                </a:solidFill>
                <a:latin typeface="PingFang TC"/>
                <a:ea typeface="PingFang TC"/>
              </a:rPr>
              <a:t>組織理論｜從經典到現代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73952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000" b="1" i="0">
                <a:solidFill>
                  <a:srgbClr val="8A93A3"/>
                </a:solidFill>
                <a:latin typeface="PingFang TC"/>
                <a:ea typeface="PingFang TC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9875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800" b="1" i="0">
                <a:solidFill>
                  <a:srgbClr val="1F3864"/>
                </a:solidFill>
                <a:latin typeface="PingFang TC"/>
                <a:ea typeface="PingFang TC"/>
              </a:rPr>
              <a:t>霍桑實驗（Hawthorne Studies, 1924–1932）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960120"/>
            <a:ext cx="1371600" cy="54864"/>
          </a:xfrm>
          <a:prstGeom prst="rect">
            <a:avLst/>
          </a:prstGeom>
          <a:solidFill>
            <a:srgbClr val="E883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104120" y="347472"/>
            <a:ext cx="1691640" cy="402336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04120" y="402336"/>
            <a:ext cx="1691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2E74B5"/>
                </a:solidFill>
                <a:latin typeface="PingFang TC"/>
                <a:ea typeface="PingFang TC"/>
              </a:rPr>
              <a:t>人際關係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 i="0">
                <a:solidFill>
                  <a:srgbClr val="8A93A3"/>
                </a:solidFill>
                <a:latin typeface="PingFang TC"/>
                <a:ea typeface="PingFang TC"/>
              </a:rPr>
              <a:t>組織理論｜從經典到現代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000" b="1" i="0">
                <a:solidFill>
                  <a:srgbClr val="8A93A3"/>
                </a:solidFill>
                <a:latin typeface="PingFang TC"/>
                <a:ea typeface="PingFang TC"/>
              </a:rPr>
              <a:t>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325880"/>
            <a:ext cx="1106424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800" b="1" i="0">
                <a:solidFill>
                  <a:srgbClr val="E8830C"/>
                </a:solidFill>
                <a:latin typeface="PingFang TC"/>
                <a:ea typeface="PingFang TC"/>
              </a:rPr>
              <a:t>實驗三部曲（Western Electric 霍桑廠）</a:t>
            </a:r>
          </a:p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600" b="0" i="0">
                <a:solidFill>
                  <a:srgbClr val="333945"/>
                </a:solidFill>
                <a:latin typeface="PingFang TC"/>
                <a:ea typeface="PingFang TC"/>
              </a:rPr>
              <a:t>照明實驗：光線變強變弱，產出都上升 → 原因不在「光」</a:t>
            </a:r>
          </a:p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600" b="0" i="0">
                <a:solidFill>
                  <a:srgbClr val="333945"/>
                </a:solidFill>
                <a:latin typeface="PingFang TC"/>
                <a:ea typeface="PingFang TC"/>
              </a:rPr>
              <a:t>繼電器裝配實驗：被關注、被尊重的小團體，產能持續攀升</a:t>
            </a:r>
          </a:p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600" b="0" i="0">
                <a:solidFill>
                  <a:srgbClr val="333945"/>
                </a:solidFill>
                <a:latin typeface="PingFang TC"/>
                <a:ea typeface="PingFang TC"/>
              </a:rPr>
              <a:t>大規模訪談計畫：讓員工「說出來」，士氣與抱怨結構被看見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800" b="1" i="0">
                <a:solidFill>
                  <a:srgbClr val="E8830C"/>
                </a:solidFill>
                <a:latin typeface="PingFang TC"/>
                <a:ea typeface="PingFang TC"/>
              </a:rPr>
              <a:t>三大啟示</a:t>
            </a:r>
          </a:p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600" b="0" i="0">
                <a:solidFill>
                  <a:srgbClr val="333945"/>
                </a:solidFill>
                <a:latin typeface="PingFang TC"/>
                <a:ea typeface="PingFang TC"/>
              </a:rPr>
              <a:t>人是「社會人」：歸屬感與被認可，影響力不亞於金錢</a:t>
            </a:r>
          </a:p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600" b="0" i="0">
                <a:solidFill>
                  <a:srgbClr val="333945"/>
                </a:solidFill>
                <a:latin typeface="PingFang TC"/>
                <a:ea typeface="PingFang TC"/>
              </a:rPr>
              <a:t>非正式組織真實存在，且會左右正式制度的成效</a:t>
            </a:r>
          </a:p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600" b="0" i="0">
                <a:solidFill>
                  <a:srgbClr val="333945"/>
                </a:solidFill>
                <a:latin typeface="PingFang TC"/>
                <a:ea typeface="PingFang TC"/>
              </a:rPr>
              <a:t>霍桑效應：被觀察本身就會改變行為（研究方法的經典提醒）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9875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800" b="1" i="0">
                <a:solidFill>
                  <a:srgbClr val="1F3864"/>
                </a:solidFill>
                <a:latin typeface="PingFang TC"/>
                <a:ea typeface="PingFang TC"/>
              </a:rPr>
              <a:t>Barnard 協作系統（1938《高階主管的功能》）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960120"/>
            <a:ext cx="1371600" cy="54864"/>
          </a:xfrm>
          <a:prstGeom prst="rect">
            <a:avLst/>
          </a:prstGeom>
          <a:solidFill>
            <a:srgbClr val="E883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104120" y="347472"/>
            <a:ext cx="1691640" cy="402336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04120" y="402336"/>
            <a:ext cx="1691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2E74B5"/>
                </a:solidFill>
                <a:latin typeface="PingFang TC"/>
                <a:ea typeface="PingFang TC"/>
              </a:rPr>
              <a:t>人際關係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 i="0">
                <a:solidFill>
                  <a:srgbClr val="8A93A3"/>
                </a:solidFill>
                <a:latin typeface="PingFang TC"/>
                <a:ea typeface="PingFang TC"/>
              </a:rPr>
              <a:t>組織理論｜從經典到現代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000" b="1" i="0">
                <a:solidFill>
                  <a:srgbClr val="8A93A3"/>
                </a:solidFill>
                <a:latin typeface="PingFang TC"/>
                <a:ea typeface="PingFang TC"/>
              </a:rPr>
              <a:t>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325880"/>
            <a:ext cx="1106424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800" b="1" i="0">
                <a:solidFill>
                  <a:srgbClr val="E8830C"/>
                </a:solidFill>
                <a:latin typeface="PingFang TC"/>
                <a:ea typeface="PingFang TC"/>
              </a:rPr>
              <a:t>組織的本質：一個「協作系統」</a:t>
            </a:r>
          </a:p>
          <a:p>
            <a:pPr algn="l">
              <a:lnSpc>
                <a:spcPct val="112000"/>
              </a:lnSpc>
              <a:spcAft>
                <a:spcPts val="1500"/>
              </a:spcAft>
            </a:pPr>
            <a:r>
              <a:rPr sz="100" b="0" i="0">
                <a:solidFill>
                  <a:srgbClr val="2E74B5"/>
                </a:solidFill>
                <a:latin typeface="PingFang TC"/>
                <a:ea typeface="PingFang TC"/>
              </a:rPr>
              <a:t>三要素缺一不可：共同目標 ｜ 協同意願 ｜ 溝通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800" b="1" i="0">
                <a:solidFill>
                  <a:srgbClr val="E8830C"/>
                </a:solidFill>
                <a:latin typeface="PingFang TC"/>
                <a:ea typeface="PingFang TC"/>
              </a:rPr>
              <a:t>顛覆性觀點</a:t>
            </a:r>
          </a:p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600" b="0" i="0">
                <a:solidFill>
                  <a:srgbClr val="333945"/>
                </a:solidFill>
                <a:latin typeface="PingFang TC"/>
                <a:ea typeface="PingFang TC"/>
              </a:rPr>
              <a:t>權威接受論：命令是否有效，取決於「下屬是否接受」，不是職位本身</a:t>
            </a:r>
          </a:p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600" b="0" i="0">
                <a:solidFill>
                  <a:srgbClr val="333945"/>
                </a:solidFill>
                <a:latin typeface="PingFang TC"/>
                <a:ea typeface="PingFang TC"/>
              </a:rPr>
              <a:t>非正式組織不是敵人，是維持溝通與凝聚力的必要潤滑</a:t>
            </a:r>
          </a:p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600" b="0" i="0">
                <a:solidFill>
                  <a:srgbClr val="333945"/>
                </a:solidFill>
                <a:latin typeface="PingFang TC"/>
                <a:ea typeface="PingFang TC"/>
              </a:rPr>
              <a:t>主管的關鍵功能：建立溝通體系、帶來必要的努力、形成共同目標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800" b="1" i="0">
                <a:solidFill>
                  <a:srgbClr val="E8830C"/>
                </a:solidFill>
                <a:latin typeface="PingFang TC"/>
                <a:ea typeface="PingFang TC"/>
              </a:rPr>
              <a:t>定位</a:t>
            </a:r>
          </a:p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600" b="0" i="0">
                <a:solidFill>
                  <a:srgbClr val="333945"/>
                </a:solidFill>
                <a:latin typeface="PingFang TC"/>
                <a:ea typeface="PingFang TC"/>
              </a:rPr>
              <a:t>把正式組織與人性面「接起來」——通往現代組織行為與系統觀的橋樑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331720"/>
            <a:ext cx="822960" cy="82296"/>
          </a:xfrm>
          <a:prstGeom prst="rect">
            <a:avLst/>
          </a:prstGeom>
          <a:solidFill>
            <a:srgbClr val="E883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3657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400" b="1" i="0">
                <a:solidFill>
                  <a:srgbClr val="E8830C"/>
                </a:solidFill>
                <a:latin typeface="PingFang TC"/>
                <a:ea typeface="PingFang TC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0604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4400" b="1" i="0">
                <a:solidFill>
                  <a:srgbClr val="FFFFFF"/>
                </a:solidFill>
                <a:latin typeface="PingFang TC"/>
                <a:ea typeface="PingFang TC"/>
              </a:rPr>
              <a:t>開放系統與權變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033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00" b="0" i="0">
                <a:solidFill>
                  <a:srgbClr val="B9C6DC"/>
                </a:solidFill>
                <a:latin typeface="PingFang TC"/>
                <a:ea typeface="PingFang TC"/>
              </a:rPr>
              <a:t>1960s–｜環境進入理論中心：沒有最佳解，只有配適解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 i="0">
                <a:solidFill>
                  <a:srgbClr val="8A93A3"/>
                </a:solidFill>
                <a:latin typeface="PingFang TC"/>
                <a:ea typeface="PingFang TC"/>
              </a:rPr>
              <a:t>組織理論｜從經典到現代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73952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000" b="1" i="0">
                <a:solidFill>
                  <a:srgbClr val="8A93A3"/>
                </a:solidFill>
                <a:latin typeface="PingFang TC"/>
                <a:ea typeface="PingFang TC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9875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800" b="1" i="0">
                <a:solidFill>
                  <a:srgbClr val="1F3864"/>
                </a:solidFill>
                <a:latin typeface="PingFang TC"/>
                <a:ea typeface="PingFang TC"/>
              </a:rPr>
              <a:t>開放系統觀點（Open Systems）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960120"/>
            <a:ext cx="1371600" cy="54864"/>
          </a:xfrm>
          <a:prstGeom prst="rect">
            <a:avLst/>
          </a:prstGeom>
          <a:solidFill>
            <a:srgbClr val="E883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 i="0">
                <a:solidFill>
                  <a:srgbClr val="8A93A3"/>
                </a:solidFill>
                <a:latin typeface="PingFang TC"/>
                <a:ea typeface="PingFang TC"/>
              </a:rPr>
              <a:t>組織理論｜從經典到現代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73952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000" b="1" i="0">
                <a:solidFill>
                  <a:srgbClr val="8A93A3"/>
                </a:solidFill>
                <a:latin typeface="PingFang TC"/>
                <a:ea typeface="PingFang TC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325880"/>
            <a:ext cx="1106424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800" b="1" i="0">
                <a:solidFill>
                  <a:srgbClr val="E8830C"/>
                </a:solidFill>
                <a:latin typeface="PingFang TC"/>
                <a:ea typeface="PingFang TC"/>
              </a:rPr>
              <a:t>組織 = 與環境不斷交換資源的系統</a:t>
            </a:r>
          </a:p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600" b="0" i="0">
                <a:solidFill>
                  <a:srgbClr val="333945"/>
                </a:solidFill>
                <a:latin typeface="PingFang TC"/>
                <a:ea typeface="PingFang TC"/>
              </a:rPr>
              <a:t>輸入（人、錢、資訊）→ 轉換（技術、流程）→ 輸出（產品、服務）→ 環境回饋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800" b="1" i="0">
                <a:solidFill>
                  <a:srgbClr val="E8830C"/>
                </a:solidFill>
                <a:latin typeface="PingFang TC"/>
                <a:ea typeface="PingFang TC"/>
              </a:rPr>
              <a:t>關鍵意涵</a:t>
            </a:r>
          </a:p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600" b="0" i="0">
                <a:solidFill>
                  <a:srgbClr val="333945"/>
                </a:solidFill>
                <a:latin typeface="PingFang TC"/>
                <a:ea typeface="PingFang TC"/>
              </a:rPr>
              <a:t>生存靠「負熵」：持續從環境取得資源、消化變化，避免僵化</a:t>
            </a:r>
          </a:p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600" b="0" i="0">
                <a:solidFill>
                  <a:srgbClr val="333945"/>
                </a:solidFill>
                <a:latin typeface="PingFang TC"/>
                <a:ea typeface="PingFang TC"/>
              </a:rPr>
              <a:t>子系統相互依賴：動一個部門，全身都會痛</a:t>
            </a:r>
          </a:p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600" b="0" i="0">
                <a:solidFill>
                  <a:srgbClr val="333945"/>
                </a:solidFill>
                <a:latin typeface="PingFang TC"/>
                <a:ea typeface="PingFang TC"/>
              </a:rPr>
              <a:t>Thompson 的綜合：組織「對內追求理性封閉，對外必須開放適應」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800" b="1" i="0">
                <a:solidFill>
                  <a:srgbClr val="E8830C"/>
                </a:solidFill>
                <a:latin typeface="PingFang TC"/>
                <a:ea typeface="PingFang TC"/>
              </a:rPr>
              <a:t>《行動中的組織》的提醒</a:t>
            </a:r>
          </a:p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600" b="0" i="0">
                <a:solidFill>
                  <a:srgbClr val="333945"/>
                </a:solidFill>
                <a:latin typeface="PingFang TC"/>
                <a:ea typeface="PingFang TC"/>
              </a:rPr>
              <a:t>組織最大的敵人是不確定性 → 用緩衝、平滑、預測去「爭取確定性」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9875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800" b="1" i="0">
                <a:solidFill>
                  <a:srgbClr val="1F3864"/>
                </a:solidFill>
                <a:latin typeface="PingFang TC"/>
                <a:ea typeface="PingFang TC"/>
              </a:rPr>
              <a:t>權變理論（Contingency Theory）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960120"/>
            <a:ext cx="1371600" cy="54864"/>
          </a:xfrm>
          <a:prstGeom prst="rect">
            <a:avLst/>
          </a:prstGeom>
          <a:solidFill>
            <a:srgbClr val="E883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 i="0">
                <a:solidFill>
                  <a:srgbClr val="8A93A3"/>
                </a:solidFill>
                <a:latin typeface="PingFang TC"/>
                <a:ea typeface="PingFang TC"/>
              </a:rPr>
              <a:t>組織理論｜從經典到現代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73952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000" b="1" i="0">
                <a:solidFill>
                  <a:srgbClr val="8A93A3"/>
                </a:solidFill>
                <a:latin typeface="PingFang TC"/>
                <a:ea typeface="PingFang TC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325880"/>
            <a:ext cx="1106424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800" b="1" i="0">
                <a:solidFill>
                  <a:srgbClr val="E8830C"/>
                </a:solidFill>
                <a:latin typeface="PingFang TC"/>
                <a:ea typeface="PingFang TC"/>
              </a:rPr>
              <a:t>核心命題：It depends —— 結構要與情境「配適（fit）」</a:t>
            </a:r>
          </a:p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600" b="0" i="0">
                <a:solidFill>
                  <a:srgbClr val="333945"/>
                </a:solidFill>
                <a:latin typeface="PingFang TC"/>
                <a:ea typeface="PingFang TC"/>
              </a:rPr>
              <a:t>情境變數：環境不確定性、技術、規模、策略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800" b="1" i="0">
                <a:solidFill>
                  <a:srgbClr val="E8830C"/>
                </a:solidFill>
                <a:latin typeface="PingFang TC"/>
                <a:ea typeface="PingFang TC"/>
              </a:rPr>
              <a:t>Burns &amp; Stalker：兩種結構原型</a:t>
            </a:r>
          </a:p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600" b="0" i="0">
                <a:solidFill>
                  <a:srgbClr val="333945"/>
                </a:solidFill>
                <a:latin typeface="PingFang TC"/>
                <a:ea typeface="PingFang TC"/>
              </a:rPr>
              <a:t>機械式：集權、正式化高 → 適合穩定環境</a:t>
            </a:r>
          </a:p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600" b="0" i="0">
                <a:solidFill>
                  <a:srgbClr val="333945"/>
                </a:solidFill>
                <a:latin typeface="PingFang TC"/>
                <a:ea typeface="PingFang TC"/>
              </a:rPr>
              <a:t>有機式：分權、橫向溝通、彈性角色 → 適合動盪環境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800" b="1" i="0">
                <a:solidFill>
                  <a:srgbClr val="E8830C"/>
                </a:solidFill>
                <a:latin typeface="PingFang TC"/>
                <a:ea typeface="PingFang TC"/>
              </a:rPr>
              <a:t>Lawrence &amp; Lorsch</a:t>
            </a:r>
          </a:p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600" b="0" i="0">
                <a:solidFill>
                  <a:srgbClr val="333945"/>
                </a:solidFill>
                <a:latin typeface="PingFang TC"/>
                <a:ea typeface="PingFang TC"/>
              </a:rPr>
              <a:t>環境越多樣 → 部門「差異化」越高，越需要「整合」機制（跨部門團隊、整合者）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03920" y="1371600"/>
            <a:ext cx="3108960" cy="448056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0" y="1600200"/>
            <a:ext cx="265176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500" b="1" i="0">
                <a:solidFill>
                  <a:srgbClr val="E8830C"/>
                </a:solidFill>
                <a:latin typeface="PingFang TC"/>
                <a:ea typeface="PingFang TC"/>
              </a:rPr>
              <a:t>考試熱點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700" b="1" i="0">
                <a:solidFill>
                  <a:srgbClr val="1F3864"/>
                </a:solidFill>
                <a:latin typeface="PingFang TC"/>
                <a:ea typeface="PingFang TC"/>
              </a:rPr>
              <a:t>環境 ↔ 結構
必須配適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00" b="1" i="0">
                <a:solidFill>
                  <a:srgbClr val="E8830C"/>
                </a:solidFill>
                <a:latin typeface="PingFang TC"/>
                <a:ea typeface="PingFang TC"/>
              </a:rPr>
              <a:t>錯配的症狀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0" i="0">
                <a:solidFill>
                  <a:srgbClr val="333945"/>
                </a:solidFill>
                <a:latin typeface="PingFang TC"/>
                <a:ea typeface="PingFang TC"/>
              </a:rPr>
              <a:t>穩定環境用有機式 → 混亂
動盪環境用機械式 → 遲鈍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9875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800" b="1" i="0">
                <a:solidFill>
                  <a:srgbClr val="1F3864"/>
                </a:solidFill>
                <a:latin typeface="PingFang TC"/>
                <a:ea typeface="PingFang TC"/>
              </a:rPr>
              <a:t>Thompson：三種核心技術（《行動中的組織》）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960120"/>
            <a:ext cx="1371600" cy="54864"/>
          </a:xfrm>
          <a:prstGeom prst="rect">
            <a:avLst/>
          </a:prstGeom>
          <a:solidFill>
            <a:srgbClr val="E883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104120" y="347472"/>
            <a:ext cx="1691640" cy="402336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04120" y="402336"/>
            <a:ext cx="1691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2E74B5"/>
                </a:solidFill>
                <a:latin typeface="PingFang TC"/>
                <a:ea typeface="PingFang TC"/>
              </a:rPr>
              <a:t>權變經典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 i="0">
                <a:solidFill>
                  <a:srgbClr val="8A93A3"/>
                </a:solidFill>
                <a:latin typeface="PingFang TC"/>
                <a:ea typeface="PingFang TC"/>
              </a:rPr>
              <a:t>組織理論｜從經典到現代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000" b="1" i="0">
                <a:solidFill>
                  <a:srgbClr val="8A93A3"/>
                </a:solidFill>
                <a:latin typeface="PingFang TC"/>
                <a:ea typeface="PingFang TC"/>
              </a:rPr>
              <a:t>15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371600"/>
            <a:ext cx="11064240" cy="1298448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1371600"/>
            <a:ext cx="82296" cy="1298448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1499616"/>
            <a:ext cx="28346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700" b="1" i="0">
                <a:solidFill>
                  <a:srgbClr val="1F3864"/>
                </a:solidFill>
                <a:latin typeface="PingFang TC"/>
                <a:ea typeface="PingFang TC"/>
              </a:rPr>
              <a:t>長鏈型技術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1499616"/>
            <a:ext cx="420624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1" i="0">
                <a:solidFill>
                  <a:srgbClr val="E8830C"/>
                </a:solidFill>
                <a:latin typeface="PingFang TC"/>
                <a:ea typeface="PingFang TC"/>
              </a:rPr>
              <a:t>代表情境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0" i="0">
                <a:solidFill>
                  <a:srgbClr val="333945"/>
                </a:solidFill>
                <a:latin typeface="PingFang TC"/>
                <a:ea typeface="PingFang TC"/>
              </a:rPr>
              <a:t>大量生產、流水線（汽車、電子組裝）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1499616"/>
            <a:ext cx="329184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1" i="0">
                <a:solidFill>
                  <a:srgbClr val="E8830C"/>
                </a:solidFill>
                <a:latin typeface="PingFang TC"/>
                <a:ea typeface="PingFang TC"/>
              </a:rPr>
              <a:t>協調機制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0" i="0">
                <a:solidFill>
                  <a:srgbClr val="333945"/>
                </a:solidFill>
                <a:latin typeface="PingFang TC"/>
                <a:ea typeface="PingFang TC"/>
              </a:rPr>
              <a:t>標準化 + 層級計畫與排程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2852928"/>
            <a:ext cx="11064240" cy="1298448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2852928"/>
            <a:ext cx="82296" cy="1298448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2980944"/>
            <a:ext cx="28346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700" b="1" i="0">
                <a:solidFill>
                  <a:srgbClr val="1F3864"/>
                </a:solidFill>
                <a:latin typeface="PingFang TC"/>
                <a:ea typeface="PingFang TC"/>
              </a:rPr>
              <a:t>媒介型技術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94760" y="2980944"/>
            <a:ext cx="420624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1" i="0">
                <a:solidFill>
                  <a:srgbClr val="E8830C"/>
                </a:solidFill>
                <a:latin typeface="PingFang TC"/>
                <a:ea typeface="PingFang TC"/>
              </a:rPr>
              <a:t>代表情境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0" i="0">
                <a:solidFill>
                  <a:srgbClr val="333945"/>
                </a:solidFill>
                <a:latin typeface="PingFang TC"/>
                <a:ea typeface="PingFang TC"/>
              </a:rPr>
              <a:t>連結客戶的標準服務（銀行、物流、電信）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0" y="2980944"/>
            <a:ext cx="329184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1" i="0">
                <a:solidFill>
                  <a:srgbClr val="E8830C"/>
                </a:solidFill>
                <a:latin typeface="PingFang TC"/>
                <a:ea typeface="PingFang TC"/>
              </a:rPr>
              <a:t>協調機制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0" i="0">
                <a:solidFill>
                  <a:srgbClr val="333945"/>
                </a:solidFill>
                <a:latin typeface="PingFang TC"/>
                <a:ea typeface="PingFang TC"/>
              </a:rPr>
              <a:t>標準化規則，分類處理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334256"/>
            <a:ext cx="11064240" cy="1298448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66928" y="4334256"/>
            <a:ext cx="82296" cy="1298448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4462272"/>
            <a:ext cx="28346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700" b="1" i="0">
                <a:solidFill>
                  <a:srgbClr val="1F3864"/>
                </a:solidFill>
                <a:latin typeface="PingFang TC"/>
                <a:ea typeface="PingFang TC"/>
              </a:rPr>
              <a:t>密集型技術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94760" y="4462272"/>
            <a:ext cx="420624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1" i="0">
                <a:solidFill>
                  <a:srgbClr val="E8830C"/>
                </a:solidFill>
                <a:latin typeface="PingFang TC"/>
                <a:ea typeface="PingFang TC"/>
              </a:rPr>
              <a:t>代表情境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0" i="0">
                <a:solidFill>
                  <a:srgbClr val="333945"/>
                </a:solidFill>
                <a:latin typeface="PingFang TC"/>
                <a:ea typeface="PingFang TC"/>
              </a:rPr>
              <a:t>客製化變數高的工作（醫院、研發、顧問）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38160" y="4462272"/>
            <a:ext cx="329184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1" i="0">
                <a:solidFill>
                  <a:srgbClr val="E8830C"/>
                </a:solidFill>
                <a:latin typeface="PingFang TC"/>
                <a:ea typeface="PingFang TC"/>
              </a:rPr>
              <a:t>協調機制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0" i="0">
                <a:solidFill>
                  <a:srgbClr val="333945"/>
                </a:solidFill>
                <a:latin typeface="PingFang TC"/>
                <a:ea typeface="PingFang TC"/>
              </a:rPr>
              <a:t>相互調整：團隊、橫向協調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589788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 i="0">
                <a:solidFill>
                  <a:srgbClr val="8A93A3"/>
                </a:solidFill>
                <a:latin typeface="PingFang TC"/>
                <a:ea typeface="PingFang TC"/>
              </a:rPr>
              <a:t>洞見：技術決定「依賴關係」的型態，進而決定該用哪種協調與結構。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331720"/>
            <a:ext cx="822960" cy="82296"/>
          </a:xfrm>
          <a:prstGeom prst="rect">
            <a:avLst/>
          </a:prstGeom>
          <a:solidFill>
            <a:srgbClr val="E883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3657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400" b="1" i="0">
                <a:solidFill>
                  <a:srgbClr val="E8830C"/>
                </a:solidFill>
                <a:latin typeface="PingFang TC"/>
                <a:ea typeface="PingFang TC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0604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4400" b="1" i="0">
                <a:solidFill>
                  <a:srgbClr val="FFFFFF"/>
                </a:solidFill>
                <a:latin typeface="PingFang TC"/>
                <a:ea typeface="PingFang TC"/>
              </a:rPr>
              <a:t>組織結構與設計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033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00" b="0" i="0">
                <a:solidFill>
                  <a:srgbClr val="B9C6DC"/>
                </a:solidFill>
                <a:latin typeface="PingFang TC"/>
                <a:ea typeface="PingFang TC"/>
              </a:rPr>
              <a:t>把策略與技術「畫」成組織：Mintzberg 與設計槓桿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 i="0">
                <a:solidFill>
                  <a:srgbClr val="8A93A3"/>
                </a:solidFill>
                <a:latin typeface="PingFang TC"/>
                <a:ea typeface="PingFang TC"/>
              </a:rPr>
              <a:t>組織理論｜從經典到現代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73952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000" b="1" i="0">
                <a:solidFill>
                  <a:srgbClr val="8A93A3"/>
                </a:solidFill>
                <a:latin typeface="PingFang TC"/>
                <a:ea typeface="PingFang TC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9875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800" b="1" i="0">
                <a:solidFill>
                  <a:srgbClr val="1F3864"/>
                </a:solidFill>
                <a:latin typeface="PingFang TC"/>
                <a:ea typeface="PingFang TC"/>
              </a:rPr>
              <a:t>Mintzberg：五種組織形貌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960120"/>
            <a:ext cx="1371600" cy="54864"/>
          </a:xfrm>
          <a:prstGeom prst="rect">
            <a:avLst/>
          </a:prstGeom>
          <a:solidFill>
            <a:srgbClr val="E883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 i="0">
                <a:solidFill>
                  <a:srgbClr val="8A93A3"/>
                </a:solidFill>
                <a:latin typeface="PingFang TC"/>
                <a:ea typeface="PingFang TC"/>
              </a:rPr>
              <a:t>組織理論｜從經典到現代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73952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000" b="1" i="0">
                <a:solidFill>
                  <a:srgbClr val="8A93A3"/>
                </a:solidFill>
                <a:latin typeface="PingFang TC"/>
                <a:ea typeface="PingFang TC"/>
              </a:rPr>
              <a:t>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325880"/>
            <a:ext cx="2286000" cy="384048"/>
          </a:xfrm>
          <a:prstGeom prst="round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371600"/>
            <a:ext cx="22860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PingFang TC"/>
                <a:ea typeface="PingFang TC"/>
              </a:rPr>
              <a:t>簡單結構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63240" y="1362456"/>
            <a:ext cx="4754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 i="0">
                <a:solidFill>
                  <a:srgbClr val="333945"/>
                </a:solidFill>
                <a:latin typeface="PingFang TC"/>
                <a:ea typeface="PingFang TC"/>
              </a:rPr>
              <a:t>協調機制：策略頂峰直接指揮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1362456"/>
            <a:ext cx="3657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0" i="0">
                <a:solidFill>
                  <a:srgbClr val="2E74B5"/>
                </a:solidFill>
                <a:latin typeface="PingFang TC"/>
                <a:ea typeface="PingFang TC"/>
              </a:rPr>
              <a:t>例：新創、小型家族企業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258568"/>
            <a:ext cx="2286000" cy="384048"/>
          </a:xfrm>
          <a:prstGeom prst="round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304287"/>
            <a:ext cx="22860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PingFang TC"/>
                <a:ea typeface="PingFang TC"/>
              </a:rPr>
              <a:t>機器官僚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63240" y="2295144"/>
            <a:ext cx="4754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 i="0">
                <a:solidFill>
                  <a:srgbClr val="333945"/>
                </a:solidFill>
                <a:latin typeface="PingFang TC"/>
                <a:ea typeface="PingFang TC"/>
              </a:rPr>
              <a:t>協調機制：技術官僚制定標準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79" y="2295144"/>
            <a:ext cx="3657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0" i="0">
                <a:solidFill>
                  <a:srgbClr val="2E74B5"/>
                </a:solidFill>
                <a:latin typeface="PingFang TC"/>
                <a:ea typeface="PingFang TC"/>
              </a:rPr>
              <a:t>例：公營事業、量產工廠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191256"/>
            <a:ext cx="2286000" cy="384048"/>
          </a:xfrm>
          <a:prstGeom prst="round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3236976"/>
            <a:ext cx="22860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PingFang TC"/>
                <a:ea typeface="PingFang TC"/>
              </a:rPr>
              <a:t>專業官僚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63240" y="3227832"/>
            <a:ext cx="4754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 i="0">
                <a:solidFill>
                  <a:srgbClr val="333945"/>
                </a:solidFill>
                <a:latin typeface="PingFang TC"/>
                <a:ea typeface="PingFang TC"/>
              </a:rPr>
              <a:t>協調機制：營運核心自主專業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79" y="3227832"/>
            <a:ext cx="3657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0" i="0">
                <a:solidFill>
                  <a:srgbClr val="2E74B5"/>
                </a:solidFill>
                <a:latin typeface="PingFang TC"/>
                <a:ea typeface="PingFang TC"/>
              </a:rPr>
              <a:t>例：醫院、大學、事務所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123944"/>
            <a:ext cx="2286000" cy="384048"/>
          </a:xfrm>
          <a:prstGeom prst="round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" y="4169663"/>
            <a:ext cx="22860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PingFang TC"/>
                <a:ea typeface="PingFang TC"/>
              </a:rPr>
              <a:t>事業部制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63240" y="4160520"/>
            <a:ext cx="4754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 i="0">
                <a:solidFill>
                  <a:srgbClr val="333945"/>
                </a:solidFill>
                <a:latin typeface="PingFang TC"/>
                <a:ea typeface="PingFang TC"/>
              </a:rPr>
              <a:t>協調機制：中層管理者市場導向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5279" y="4160520"/>
            <a:ext cx="3657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0" i="0">
                <a:solidFill>
                  <a:srgbClr val="2E74B5"/>
                </a:solidFill>
                <a:latin typeface="PingFang TC"/>
                <a:ea typeface="PingFang TC"/>
              </a:rPr>
              <a:t>例：多元集團（統一、鴻海）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056632"/>
            <a:ext cx="2286000" cy="384048"/>
          </a:xfrm>
          <a:prstGeom prst="round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5102352"/>
            <a:ext cx="22860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PingFang TC"/>
                <a:ea typeface="PingFang TC"/>
              </a:rPr>
              <a:t>臨時團隊 Adhocracy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63240" y="5093208"/>
            <a:ext cx="4754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 i="0">
                <a:solidFill>
                  <a:srgbClr val="333945"/>
                </a:solidFill>
                <a:latin typeface="PingFang TC"/>
                <a:ea typeface="PingFang TC"/>
              </a:rPr>
              <a:t>協調機制：支援幕僚與專案團隊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55279" y="5093208"/>
            <a:ext cx="3657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0" i="0">
                <a:solidFill>
                  <a:srgbClr val="2E74B5"/>
                </a:solidFill>
                <a:latin typeface="PingFang TC"/>
                <a:ea typeface="PingFang TC"/>
              </a:rPr>
              <a:t>例：顧問公司、新藥研發、AI 團隊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6053328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0" i="0">
                <a:solidFill>
                  <a:srgbClr val="8A93A3"/>
                </a:solidFill>
                <a:latin typeface="PingFang TC"/>
                <a:ea typeface="PingFang TC"/>
              </a:rPr>
              <a:t>Mintzberg 洞見：組織 = 策略頂峰＋中層＋營運核心＋技術官僚＋支援幕僚，誰主導就長成哪種形。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9875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800" b="1" i="0">
                <a:solidFill>
                  <a:srgbClr val="1F3864"/>
                </a:solidFill>
                <a:latin typeface="PingFang TC"/>
                <a:ea typeface="PingFang TC"/>
              </a:rPr>
              <a:t>組織設計的五個基本槓桿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960120"/>
            <a:ext cx="1371600" cy="54864"/>
          </a:xfrm>
          <a:prstGeom prst="rect">
            <a:avLst/>
          </a:prstGeom>
          <a:solidFill>
            <a:srgbClr val="E883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 i="0">
                <a:solidFill>
                  <a:srgbClr val="8A93A3"/>
                </a:solidFill>
                <a:latin typeface="PingFang TC"/>
                <a:ea typeface="PingFang TC"/>
              </a:rPr>
              <a:t>組織理論｜從經典到現代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73952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000" b="1" i="0">
                <a:solidFill>
                  <a:srgbClr val="8A93A3"/>
                </a:solidFill>
                <a:latin typeface="PingFang TC"/>
                <a:ea typeface="PingFang TC"/>
              </a:rPr>
              <a:t>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325880"/>
            <a:ext cx="11064240" cy="82296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545336"/>
            <a:ext cx="2743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00" b="1" i="0">
                <a:solidFill>
                  <a:srgbClr val="1F3864"/>
                </a:solidFill>
                <a:latin typeface="PingFang TC"/>
                <a:ea typeface="PingFang TC"/>
              </a:rPr>
              <a:t>分工與部門化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4760" y="1563624"/>
            <a:ext cx="7680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50" b="0" i="0">
                <a:solidFill>
                  <a:srgbClr val="333945"/>
                </a:solidFill>
                <a:latin typeface="PingFang TC"/>
                <a:ea typeface="PingFang TC"/>
              </a:rPr>
              <a:t>按功能／產品／地區／客群切分——切法決定大家「眼睛看哪裡」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286000"/>
            <a:ext cx="11064240" cy="8229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505456"/>
            <a:ext cx="2743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00" b="1" i="0">
                <a:solidFill>
                  <a:srgbClr val="1F3864"/>
                </a:solidFill>
                <a:latin typeface="PingFang TC"/>
                <a:ea typeface="PingFang TC"/>
              </a:rPr>
              <a:t>控制幅度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2523744"/>
            <a:ext cx="7680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50" b="0" i="0">
                <a:solidFill>
                  <a:srgbClr val="333945"/>
                </a:solidFill>
                <a:latin typeface="PingFang TC"/>
                <a:ea typeface="PingFang TC"/>
              </a:rPr>
              <a:t>一位主管帶幾人：越寬越扁平，越窄越層級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246120"/>
            <a:ext cx="11064240" cy="82296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465576"/>
            <a:ext cx="2743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00" b="1" i="0">
                <a:solidFill>
                  <a:srgbClr val="1F3864"/>
                </a:solidFill>
                <a:latin typeface="PingFang TC"/>
                <a:ea typeface="PingFang TC"/>
              </a:rPr>
              <a:t>集權 ↔ 分權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94760" y="3483863"/>
            <a:ext cx="7680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50" b="0" i="0">
                <a:solidFill>
                  <a:srgbClr val="333945"/>
                </a:solidFill>
                <a:latin typeface="PingFang TC"/>
                <a:ea typeface="PingFang TC"/>
              </a:rPr>
              <a:t>決策權放在哪一層？速度與在地反應 vs 控制與一致性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206240"/>
            <a:ext cx="11064240" cy="8229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425696"/>
            <a:ext cx="2743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00" b="1" i="0">
                <a:solidFill>
                  <a:srgbClr val="1F3864"/>
                </a:solidFill>
                <a:latin typeface="PingFang TC"/>
                <a:ea typeface="PingFang TC"/>
              </a:rPr>
              <a:t>正式化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94760" y="4443984"/>
            <a:ext cx="7680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50" b="0" i="0">
                <a:solidFill>
                  <a:srgbClr val="333945"/>
                </a:solidFill>
                <a:latin typeface="PingFang TC"/>
                <a:ea typeface="PingFang TC"/>
              </a:rPr>
              <a:t>規則、SOP 的多寡：高正式化 = 可預測，低正式化 = 可應變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5166360"/>
            <a:ext cx="11064240" cy="82296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5385816"/>
            <a:ext cx="2743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00" b="1" i="0">
                <a:solidFill>
                  <a:srgbClr val="1F3864"/>
                </a:solidFill>
                <a:latin typeface="PingFang TC"/>
                <a:ea typeface="PingFang TC"/>
              </a:rPr>
              <a:t>協調機制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94760" y="5404104"/>
            <a:ext cx="7680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50" b="0" i="0">
                <a:solidFill>
                  <a:srgbClr val="333945"/>
                </a:solidFill>
                <a:latin typeface="PingFang TC"/>
                <a:ea typeface="PingFang TC"/>
              </a:rPr>
              <a:t>層級命令 → 標準化 → 橫向團隊／矩陣／整合者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9875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800" b="1" i="0">
                <a:solidFill>
                  <a:srgbClr val="1F3864"/>
                </a:solidFill>
                <a:latin typeface="PingFang TC"/>
                <a:ea typeface="PingFang TC"/>
              </a:rPr>
              <a:t>機械式 vs 有機式組織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960120"/>
            <a:ext cx="1371600" cy="54864"/>
          </a:xfrm>
          <a:prstGeom prst="rect">
            <a:avLst/>
          </a:prstGeom>
          <a:solidFill>
            <a:srgbClr val="E883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 i="0">
                <a:solidFill>
                  <a:srgbClr val="8A93A3"/>
                </a:solidFill>
                <a:latin typeface="PingFang TC"/>
                <a:ea typeface="PingFang TC"/>
              </a:rPr>
              <a:t>組織理論｜從經典到現代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73952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000" b="1" i="0">
                <a:solidFill>
                  <a:srgbClr val="8A93A3"/>
                </a:solidFill>
                <a:latin typeface="PingFang TC"/>
                <a:ea typeface="PingFang TC"/>
              </a:rPr>
              <a:t>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371600"/>
            <a:ext cx="5349240" cy="4846320"/>
          </a:xfrm>
          <a:prstGeom prst="roundRect">
            <a:avLst/>
          </a:prstGeom>
          <a:solidFill>
            <a:srgbClr val="E8E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66928" y="1371600"/>
            <a:ext cx="5349240" cy="566928"/>
          </a:xfrm>
          <a:prstGeom prst="round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1490472"/>
            <a:ext cx="4937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PingFang TC"/>
                <a:ea typeface="PingFang TC"/>
              </a:rPr>
              <a:t>⚙ 機械式（Mechanistic）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103120"/>
            <a:ext cx="4846320" cy="39776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1500"/>
              </a:spcAft>
            </a:pPr>
            <a:r>
              <a:rPr sz="1600" b="0" i="0">
                <a:solidFill>
                  <a:srgbClr val="333945"/>
                </a:solidFill>
                <a:latin typeface="PingFang TC"/>
                <a:ea typeface="PingFang TC"/>
              </a:rPr>
              <a:t>高正式化、高集權</a:t>
            </a:r>
          </a:p>
          <a:p>
            <a:pPr algn="l">
              <a:lnSpc>
                <a:spcPct val="112000"/>
              </a:lnSpc>
              <a:spcAft>
                <a:spcPts val="1500"/>
              </a:spcAft>
            </a:pPr>
            <a:r>
              <a:rPr sz="1600" b="0" i="0">
                <a:solidFill>
                  <a:srgbClr val="333945"/>
                </a:solidFill>
                <a:latin typeface="PingFang TC"/>
                <a:ea typeface="PingFang TC"/>
              </a:rPr>
              <a:t>嚴格層級與明確職掌</a:t>
            </a:r>
          </a:p>
          <a:p>
            <a:pPr algn="l">
              <a:lnSpc>
                <a:spcPct val="112000"/>
              </a:lnSpc>
              <a:spcAft>
                <a:spcPts val="1500"/>
              </a:spcAft>
            </a:pPr>
            <a:r>
              <a:rPr sz="1600" b="0" i="0">
                <a:solidFill>
                  <a:srgbClr val="333945"/>
                </a:solidFill>
                <a:latin typeface="PingFang TC"/>
                <a:ea typeface="PingFang TC"/>
              </a:rPr>
              <a:t>縱向溝通為主</a:t>
            </a:r>
          </a:p>
          <a:p>
            <a:pPr algn="l">
              <a:lnSpc>
                <a:spcPct val="112000"/>
              </a:lnSpc>
              <a:spcAft>
                <a:spcPts val="1500"/>
              </a:spcAft>
            </a:pPr>
            <a:r>
              <a:rPr sz="100" b="0" i="0">
                <a:solidFill>
                  <a:srgbClr val="2E74B5"/>
                </a:solidFill>
                <a:latin typeface="PingFang TC"/>
                <a:ea typeface="PingFang TC"/>
              </a:rPr>
              <a:t>適合：穩定環境、大量生產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371600"/>
            <a:ext cx="5349240" cy="4846320"/>
          </a:xfrm>
          <a:prstGeom prst="roundRect">
            <a:avLst/>
          </a:prstGeom>
          <a:solidFill>
            <a:srgbClr val="E7F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1371600"/>
            <a:ext cx="5349240" cy="566928"/>
          </a:xfrm>
          <a:prstGeom prst="round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490472"/>
            <a:ext cx="4937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PingFang TC"/>
                <a:ea typeface="PingFang TC"/>
              </a:rPr>
              <a:t>🌿 有機式（Organic）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59" y="2103120"/>
            <a:ext cx="4846320" cy="39776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1500"/>
              </a:spcAft>
            </a:pPr>
            <a:r>
              <a:rPr sz="1600" b="0" i="0">
                <a:solidFill>
                  <a:srgbClr val="333945"/>
                </a:solidFill>
                <a:latin typeface="PingFang TC"/>
                <a:ea typeface="PingFang TC"/>
              </a:rPr>
              <a:t>低正式化、分權</a:t>
            </a:r>
          </a:p>
          <a:p>
            <a:pPr algn="l">
              <a:lnSpc>
                <a:spcPct val="112000"/>
              </a:lnSpc>
              <a:spcAft>
                <a:spcPts val="1500"/>
              </a:spcAft>
            </a:pPr>
            <a:r>
              <a:rPr sz="1600" b="0" i="0">
                <a:solidFill>
                  <a:srgbClr val="333945"/>
                </a:solidFill>
                <a:latin typeface="PingFang TC"/>
                <a:ea typeface="PingFang TC"/>
              </a:rPr>
              <a:t>角色彈性、跨功能團隊</a:t>
            </a:r>
          </a:p>
          <a:p>
            <a:pPr algn="l">
              <a:lnSpc>
                <a:spcPct val="112000"/>
              </a:lnSpc>
              <a:spcAft>
                <a:spcPts val="1500"/>
              </a:spcAft>
            </a:pPr>
            <a:r>
              <a:rPr sz="1600" b="0" i="0">
                <a:solidFill>
                  <a:srgbClr val="333945"/>
                </a:solidFill>
                <a:latin typeface="PingFang TC"/>
                <a:ea typeface="PingFang TC"/>
              </a:rPr>
              <a:t>橫向與斜向溝通</a:t>
            </a:r>
          </a:p>
          <a:p>
            <a:pPr algn="l">
              <a:lnSpc>
                <a:spcPct val="112000"/>
              </a:lnSpc>
              <a:spcAft>
                <a:spcPts val="1500"/>
              </a:spcAft>
            </a:pPr>
            <a:r>
              <a:rPr sz="100" b="0" i="0">
                <a:solidFill>
                  <a:srgbClr val="2E74B5"/>
                </a:solidFill>
                <a:latin typeface="PingFang TC"/>
                <a:ea typeface="PingFang TC"/>
              </a:rPr>
              <a:t>適合：動盪環境、創新業務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598932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 i="0">
                <a:solidFill>
                  <a:srgbClr val="8A93A3"/>
                </a:solidFill>
                <a:latin typeface="PingFang TC"/>
                <a:ea typeface="PingFang TC"/>
              </a:rPr>
              <a:t>現實中的組織多半是「混合體」：核心事業機械化保效率，新事業有機化保速度。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331720"/>
            <a:ext cx="822960" cy="82296"/>
          </a:xfrm>
          <a:prstGeom prst="rect">
            <a:avLst/>
          </a:prstGeom>
          <a:solidFill>
            <a:srgbClr val="E883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3657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400" b="1" i="0">
                <a:solidFill>
                  <a:srgbClr val="E8830C"/>
                </a:solidFill>
                <a:latin typeface="PingFang TC"/>
                <a:ea typeface="PingFang TC"/>
              </a:rPr>
              <a:t>PART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0604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4400" b="1" i="0">
                <a:solidFill>
                  <a:srgbClr val="FFFFFF"/>
                </a:solidFill>
                <a:latin typeface="PingFang TC"/>
                <a:ea typeface="PingFang TC"/>
              </a:rPr>
              <a:t>學習與動態能力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033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00" b="0" i="0">
                <a:solidFill>
                  <a:srgbClr val="B9C6DC"/>
                </a:solidFill>
                <a:latin typeface="PingFang TC"/>
                <a:ea typeface="PingFang TC"/>
              </a:rPr>
              <a:t>組織如何「變聰明」：能力與學習的現代視角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 i="0">
                <a:solidFill>
                  <a:srgbClr val="8A93A3"/>
                </a:solidFill>
                <a:latin typeface="PingFang TC"/>
                <a:ea typeface="PingFang TC"/>
              </a:rPr>
              <a:t>組織理論｜從經典到現代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73952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000" b="1" i="0">
                <a:solidFill>
                  <a:srgbClr val="8A93A3"/>
                </a:solidFill>
                <a:latin typeface="PingFang TC"/>
                <a:ea typeface="PingFang TC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9875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800" b="1" i="0">
                <a:solidFill>
                  <a:srgbClr val="1F3864"/>
                </a:solidFill>
                <a:latin typeface="PingFang TC"/>
                <a:ea typeface="PingFang TC"/>
              </a:rPr>
              <a:t>核心能力 vs 動態能力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960120"/>
            <a:ext cx="1371600" cy="54864"/>
          </a:xfrm>
          <a:prstGeom prst="rect">
            <a:avLst/>
          </a:prstGeom>
          <a:solidFill>
            <a:srgbClr val="E883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 i="0">
                <a:solidFill>
                  <a:srgbClr val="8A93A3"/>
                </a:solidFill>
                <a:latin typeface="PingFang TC"/>
                <a:ea typeface="PingFang TC"/>
              </a:rPr>
              <a:t>組織理論｜從經典到現代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73952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000" b="1" i="0">
                <a:solidFill>
                  <a:srgbClr val="8A93A3"/>
                </a:solidFill>
                <a:latin typeface="PingFang TC"/>
                <a:ea typeface="PingFang TC"/>
              </a:rPr>
              <a:t>21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371600"/>
            <a:ext cx="5349240" cy="4846320"/>
          </a:xfrm>
          <a:prstGeom prst="roundRect">
            <a:avLst/>
          </a:prstGeom>
          <a:solidFill>
            <a:srgbClr val="E8E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66928" y="1371600"/>
            <a:ext cx="5349240" cy="566928"/>
          </a:xfrm>
          <a:prstGeom prst="round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1490472"/>
            <a:ext cx="4937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PingFang TC"/>
                <a:ea typeface="PingFang TC"/>
              </a:rPr>
              <a:t>核心能力（Prahalad &amp; Hamel）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103120"/>
            <a:ext cx="4846320" cy="39776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1500"/>
              </a:spcAft>
            </a:pPr>
            <a:r>
              <a:rPr sz="1600" b="0" i="0">
                <a:solidFill>
                  <a:srgbClr val="333945"/>
                </a:solidFill>
                <a:latin typeface="PingFang TC"/>
                <a:ea typeface="PingFang TC"/>
              </a:rPr>
              <a:t>三個檢核：對顧客有價值
　＋ 競爭者難模仿 ＋ 可延展</a:t>
            </a:r>
          </a:p>
          <a:p>
            <a:pPr algn="l">
              <a:lnSpc>
                <a:spcPct val="112000"/>
              </a:lnSpc>
              <a:spcAft>
                <a:spcPts val="1500"/>
              </a:spcAft>
            </a:pPr>
            <a:r>
              <a:rPr sz="1600" b="0" i="0">
                <a:solidFill>
                  <a:srgbClr val="333945"/>
                </a:solidFill>
                <a:latin typeface="PingFang TC"/>
                <a:ea typeface="PingFang TC"/>
              </a:rPr>
              <a:t>例子：豐田的精實製造、
　3M 的膠合技術平台</a:t>
            </a:r>
          </a:p>
          <a:p>
            <a:pPr algn="l">
              <a:lnSpc>
                <a:spcPct val="112000"/>
              </a:lnSpc>
              <a:spcAft>
                <a:spcPts val="1500"/>
              </a:spcAft>
            </a:pPr>
            <a:r>
              <a:rPr sz="1600" b="0" i="0">
                <a:solidFill>
                  <a:srgbClr val="333945"/>
                </a:solidFill>
                <a:latin typeface="PingFang TC"/>
                <a:ea typeface="PingFang TC"/>
              </a:rPr>
              <a:t>風險：環境劇變時
　「核心」可能變「僵性」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371600"/>
            <a:ext cx="5349240" cy="4846320"/>
          </a:xfrm>
          <a:prstGeom prst="roundRect">
            <a:avLst/>
          </a:prstGeom>
          <a:solidFill>
            <a:srgbClr val="FBE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1371600"/>
            <a:ext cx="5349240" cy="566928"/>
          </a:xfrm>
          <a:prstGeom prst="round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490472"/>
            <a:ext cx="4937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PingFang TC"/>
                <a:ea typeface="PingFang TC"/>
              </a:rPr>
              <a:t>動態能力（Teece）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59" y="2103120"/>
            <a:ext cx="4846320" cy="39776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1500"/>
              </a:spcAft>
            </a:pPr>
            <a:r>
              <a:rPr sz="1600" b="0" i="0">
                <a:solidFill>
                  <a:srgbClr val="333945"/>
                </a:solidFill>
                <a:latin typeface="PingFang TC"/>
                <a:ea typeface="PingFang TC"/>
              </a:rPr>
              <a:t>感測 Sensing：察覺機會與威脅</a:t>
            </a:r>
          </a:p>
          <a:p>
            <a:pPr algn="l">
              <a:lnSpc>
                <a:spcPct val="112000"/>
              </a:lnSpc>
              <a:spcAft>
                <a:spcPts val="1500"/>
              </a:spcAft>
            </a:pPr>
            <a:r>
              <a:rPr sz="1600" b="0" i="0">
                <a:solidFill>
                  <a:srgbClr val="333945"/>
                </a:solidFill>
                <a:latin typeface="PingFang TC"/>
                <a:ea typeface="PingFang TC"/>
              </a:rPr>
              <a:t>把握 Seizing：動員資源抓住它</a:t>
            </a:r>
          </a:p>
          <a:p>
            <a:pPr algn="l">
              <a:lnSpc>
                <a:spcPct val="112000"/>
              </a:lnSpc>
              <a:spcAft>
                <a:spcPts val="1500"/>
              </a:spcAft>
            </a:pPr>
            <a:r>
              <a:rPr sz="1600" b="0" i="0">
                <a:solidFill>
                  <a:srgbClr val="333945"/>
                </a:solidFill>
                <a:latin typeface="PingFang TC"/>
                <a:ea typeface="PingFang TC"/>
              </a:rPr>
              <a:t>重構 Reconfiguring：改組織、改資產</a:t>
            </a:r>
          </a:p>
          <a:p>
            <a:pPr algn="l">
              <a:lnSpc>
                <a:spcPct val="112000"/>
              </a:lnSpc>
              <a:spcAft>
                <a:spcPts val="1500"/>
              </a:spcAft>
            </a:pPr>
            <a:r>
              <a:rPr sz="100" b="0" i="0">
                <a:solidFill>
                  <a:srgbClr val="2E74B5"/>
                </a:solidFill>
                <a:latin typeface="PingFang TC"/>
                <a:ea typeface="PingFang TC"/>
              </a:rPr>
              <a:t>例子：台積電持續重構製程
　與組織能力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598932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 i="0">
                <a:solidFill>
                  <a:srgbClr val="8A93A3"/>
                </a:solidFill>
                <a:latin typeface="PingFang TC"/>
                <a:ea typeface="PingFang TC"/>
              </a:rPr>
              <a:t>一句話：核心能力讓你「贏在今天」，動態能力讓你「活到明天」。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9875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800" b="1" i="0">
                <a:solidFill>
                  <a:srgbClr val="1F3864"/>
                </a:solidFill>
                <a:latin typeface="PingFang TC"/>
                <a:ea typeface="PingFang TC"/>
              </a:rPr>
              <a:t>Argyris：單環 vs 雙環學習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960120"/>
            <a:ext cx="1371600" cy="54864"/>
          </a:xfrm>
          <a:prstGeom prst="rect">
            <a:avLst/>
          </a:prstGeom>
          <a:solidFill>
            <a:srgbClr val="E883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 i="0">
                <a:solidFill>
                  <a:srgbClr val="8A93A3"/>
                </a:solidFill>
                <a:latin typeface="PingFang TC"/>
                <a:ea typeface="PingFang TC"/>
              </a:rPr>
              <a:t>組織理論｜從經典到現代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73952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000" b="1" i="0">
                <a:solidFill>
                  <a:srgbClr val="8A93A3"/>
                </a:solidFill>
                <a:latin typeface="PingFang TC"/>
                <a:ea typeface="PingFang TC"/>
              </a:rPr>
              <a:t>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371600"/>
            <a:ext cx="5349240" cy="4846320"/>
          </a:xfrm>
          <a:prstGeom prst="roundRect">
            <a:avLst/>
          </a:prstGeom>
          <a:solidFill>
            <a:srgbClr val="E8E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66928" y="1371600"/>
            <a:ext cx="5349240" cy="566928"/>
          </a:xfrm>
          <a:prstGeom prst="round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1490472"/>
            <a:ext cx="4937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PingFang TC"/>
                <a:ea typeface="PingFang TC"/>
              </a:rPr>
              <a:t>單環學習（Single-loop）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103120"/>
            <a:ext cx="4846320" cy="39776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1500"/>
              </a:spcAft>
            </a:pPr>
            <a:r>
              <a:rPr sz="1600" b="0" i="0">
                <a:solidFill>
                  <a:srgbClr val="333945"/>
                </a:solidFill>
                <a:latin typeface="PingFang TC"/>
                <a:ea typeface="PingFang TC"/>
              </a:rPr>
              <a:t>誤差 → 修正「行為」</a:t>
            </a:r>
          </a:p>
          <a:p>
            <a:pPr algn="l">
              <a:lnSpc>
                <a:spcPct val="112000"/>
              </a:lnSpc>
              <a:spcAft>
                <a:spcPts val="1500"/>
              </a:spcAft>
            </a:pPr>
            <a:r>
              <a:rPr sz="1600" b="0" i="0">
                <a:solidFill>
                  <a:srgbClr val="333945"/>
                </a:solidFill>
                <a:latin typeface="PingFang TC"/>
                <a:ea typeface="PingFang TC"/>
              </a:rPr>
              <a:t>在既有目標與規範內改善</a:t>
            </a:r>
          </a:p>
          <a:p>
            <a:pPr algn="l">
              <a:lnSpc>
                <a:spcPct val="112000"/>
              </a:lnSpc>
              <a:spcAft>
                <a:spcPts val="1500"/>
              </a:spcAft>
            </a:pPr>
            <a:r>
              <a:rPr sz="1600" b="0" i="0">
                <a:solidFill>
                  <a:srgbClr val="333945"/>
                </a:solidFill>
                <a:latin typeface="PingFang TC"/>
                <a:ea typeface="PingFang TC"/>
              </a:rPr>
              <a:t>例：業務沒達標 →
　加強話術訓練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371600"/>
            <a:ext cx="5349240" cy="4846320"/>
          </a:xfrm>
          <a:prstGeom prst="roundRect">
            <a:avLst/>
          </a:prstGeom>
          <a:solidFill>
            <a:srgbClr val="E7F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1371600"/>
            <a:ext cx="5349240" cy="566928"/>
          </a:xfrm>
          <a:prstGeom prst="round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490472"/>
            <a:ext cx="4937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PingFang TC"/>
                <a:ea typeface="PingFang TC"/>
              </a:rPr>
              <a:t>雙環學習（Double-loop）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59" y="2103120"/>
            <a:ext cx="4846320" cy="39776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1500"/>
              </a:spcAft>
            </a:pPr>
            <a:r>
              <a:rPr sz="1600" b="0" i="0">
                <a:solidFill>
                  <a:srgbClr val="333945"/>
                </a:solidFill>
                <a:latin typeface="PingFang TC"/>
                <a:ea typeface="PingFang TC"/>
              </a:rPr>
              <a:t>誤差 → 檢視「前提與規範」</a:t>
            </a:r>
          </a:p>
          <a:p>
            <a:pPr algn="l">
              <a:lnSpc>
                <a:spcPct val="112000"/>
              </a:lnSpc>
              <a:spcAft>
                <a:spcPts val="1500"/>
              </a:spcAft>
            </a:pPr>
            <a:r>
              <a:rPr sz="1600" b="0" i="0">
                <a:solidFill>
                  <a:srgbClr val="333945"/>
                </a:solidFill>
                <a:latin typeface="PingFang TC"/>
                <a:ea typeface="PingFang TC"/>
              </a:rPr>
              <a:t>連目標本身都拿出來重新問</a:t>
            </a:r>
          </a:p>
          <a:p>
            <a:pPr algn="l">
              <a:lnSpc>
                <a:spcPct val="112000"/>
              </a:lnSpc>
              <a:spcAft>
                <a:spcPts val="1500"/>
              </a:spcAft>
            </a:pPr>
            <a:r>
              <a:rPr sz="1600" b="0" i="0">
                <a:solidFill>
                  <a:srgbClr val="333945"/>
                </a:solidFill>
                <a:latin typeface="PingFang TC"/>
                <a:ea typeface="PingFang TC"/>
              </a:rPr>
              <a:t>例：業務沒達標 →
　是否該換客群與價值主張？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5943600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 i="0">
                <a:solidFill>
                  <a:srgbClr val="8A93A3"/>
                </a:solidFill>
                <a:latin typeface="PingFang TC"/>
                <a:ea typeface="PingFang TC"/>
              </a:rPr>
              <a:t>組織防衛慣例：大家心照不宣地「不談真正的問題」，是雙環學習最大的殺手。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9875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800" b="1" i="0">
                <a:solidFill>
                  <a:srgbClr val="1F3864"/>
                </a:solidFill>
                <a:latin typeface="PingFang TC"/>
                <a:ea typeface="PingFang TC"/>
              </a:rPr>
              <a:t>Senge 五項修練：學習型組織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960120"/>
            <a:ext cx="1371600" cy="54864"/>
          </a:xfrm>
          <a:prstGeom prst="rect">
            <a:avLst/>
          </a:prstGeom>
          <a:solidFill>
            <a:srgbClr val="E883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 i="0">
                <a:solidFill>
                  <a:srgbClr val="8A93A3"/>
                </a:solidFill>
                <a:latin typeface="PingFang TC"/>
                <a:ea typeface="PingFang TC"/>
              </a:rPr>
              <a:t>組織理論｜從經典到現代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73952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000" b="1" i="0">
                <a:solidFill>
                  <a:srgbClr val="8A93A3"/>
                </a:solidFill>
                <a:latin typeface="PingFang TC"/>
                <a:ea typeface="PingFang TC"/>
              </a:rPr>
              <a:t>23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325880"/>
            <a:ext cx="566928" cy="566928"/>
          </a:xfrm>
          <a:prstGeom prst="roundRect">
            <a:avLst/>
          </a:prstGeom>
          <a:solidFill>
            <a:srgbClr val="E883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417320"/>
            <a:ext cx="56692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PingFang TC"/>
                <a:ea typeface="PingFang T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37160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700" b="1" i="0">
                <a:solidFill>
                  <a:srgbClr val="1F3864"/>
                </a:solidFill>
                <a:latin typeface="PingFang TC"/>
                <a:ea typeface="PingFang TC"/>
              </a:rPr>
              <a:t>系統思考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1408176"/>
            <a:ext cx="7223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50" b="0" i="0">
                <a:solidFill>
                  <a:srgbClr val="333945"/>
                </a:solidFill>
                <a:latin typeface="PingFang TC"/>
                <a:ea typeface="PingFang TC"/>
              </a:rPr>
              <a:t>第五修練：看整體、看因果環，而非片段事件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258568"/>
            <a:ext cx="566928" cy="566928"/>
          </a:xfrm>
          <a:prstGeom prst="round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350008"/>
            <a:ext cx="56692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PingFang TC"/>
                <a:ea typeface="PingFang TC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304287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700" b="1" i="0">
                <a:solidFill>
                  <a:srgbClr val="1F3864"/>
                </a:solidFill>
                <a:latin typeface="PingFang TC"/>
                <a:ea typeface="PingFang TC"/>
              </a:rPr>
              <a:t>自我超越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340863"/>
            <a:ext cx="7223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50" b="0" i="0">
                <a:solidFill>
                  <a:srgbClr val="333945"/>
                </a:solidFill>
                <a:latin typeface="PingFang TC"/>
                <a:ea typeface="PingFang TC"/>
              </a:rPr>
              <a:t>個人持續釐清願景、拉開現實與願景的張力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191256"/>
            <a:ext cx="566928" cy="566928"/>
          </a:xfrm>
          <a:prstGeom prst="round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3282696"/>
            <a:ext cx="56692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PingFang TC"/>
                <a:ea typeface="PingFang TC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236976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700" b="1" i="0">
                <a:solidFill>
                  <a:srgbClr val="1F3864"/>
                </a:solidFill>
                <a:latin typeface="PingFang TC"/>
                <a:ea typeface="PingFang TC"/>
              </a:rPr>
              <a:t>心智模式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3273552"/>
            <a:ext cx="7223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50" b="0" i="0">
                <a:solidFill>
                  <a:srgbClr val="333945"/>
                </a:solidFill>
                <a:latin typeface="PingFang TC"/>
                <a:ea typeface="PingFang TC"/>
              </a:rPr>
              <a:t>覺察並檢驗內在假設與成見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123944"/>
            <a:ext cx="566928" cy="566928"/>
          </a:xfrm>
          <a:prstGeom prst="round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" y="4215383"/>
            <a:ext cx="56692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PingFang TC"/>
                <a:ea typeface="PingFang TC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4169663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700" b="1" i="0">
                <a:solidFill>
                  <a:srgbClr val="1F3864"/>
                </a:solidFill>
                <a:latin typeface="PingFang TC"/>
                <a:ea typeface="PingFang TC"/>
              </a:rPr>
              <a:t>共同願景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4206240"/>
            <a:ext cx="7223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50" b="0" i="0">
                <a:solidFill>
                  <a:srgbClr val="333945"/>
                </a:solidFill>
                <a:latin typeface="PingFang TC"/>
                <a:ea typeface="PingFang TC"/>
              </a:rPr>
              <a:t>由「我要做」變成「我們要做」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056632"/>
            <a:ext cx="566928" cy="566928"/>
          </a:xfrm>
          <a:prstGeom prst="round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5148072"/>
            <a:ext cx="56692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PingFang TC"/>
                <a:ea typeface="PingFang TC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5102352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700" b="1" i="0">
                <a:solidFill>
                  <a:srgbClr val="1F3864"/>
                </a:solidFill>
                <a:latin typeface="PingFang TC"/>
                <a:ea typeface="PingFang TC"/>
              </a:rPr>
              <a:t>團隊學習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9120" y="5138928"/>
            <a:ext cx="7223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50" b="0" i="0">
                <a:solidFill>
                  <a:srgbClr val="333945"/>
                </a:solidFill>
                <a:latin typeface="PingFang TC"/>
                <a:ea typeface="PingFang TC"/>
              </a:rPr>
              <a:t>對話與討論，讓團隊智商 &gt; 個人智商總和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331720"/>
            <a:ext cx="822960" cy="82296"/>
          </a:xfrm>
          <a:prstGeom prst="rect">
            <a:avLst/>
          </a:prstGeom>
          <a:solidFill>
            <a:srgbClr val="E883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3657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400" b="1" i="0">
                <a:solidFill>
                  <a:srgbClr val="E8830C"/>
                </a:solidFill>
                <a:latin typeface="PingFang TC"/>
                <a:ea typeface="PingFang TC"/>
              </a:rPr>
              <a:t>PART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0604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4400" b="1" i="0">
                <a:solidFill>
                  <a:srgbClr val="FFFFFF"/>
                </a:solidFill>
                <a:latin typeface="PingFang TC"/>
                <a:ea typeface="PingFang TC"/>
              </a:rPr>
              <a:t>組織變革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033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00" b="0" i="0">
                <a:solidFill>
                  <a:srgbClr val="B9C6DC"/>
                </a:solidFill>
                <a:latin typeface="PingFang TC"/>
                <a:ea typeface="PingFang TC"/>
              </a:rPr>
              <a:t>理論落地的戰場：怎麼讓組織真正動起來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 i="0">
                <a:solidFill>
                  <a:srgbClr val="8A93A3"/>
                </a:solidFill>
                <a:latin typeface="PingFang TC"/>
                <a:ea typeface="PingFang TC"/>
              </a:rPr>
              <a:t>組織理論｜從經典到現代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73952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000" b="1" i="0">
                <a:solidFill>
                  <a:srgbClr val="8A93A3"/>
                </a:solidFill>
                <a:latin typeface="PingFang TC"/>
                <a:ea typeface="PingFang TC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9875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800" b="1" i="0">
                <a:solidFill>
                  <a:srgbClr val="1F3864"/>
                </a:solidFill>
                <a:latin typeface="PingFang TC"/>
                <a:ea typeface="PingFang TC"/>
              </a:rPr>
              <a:t>Lewin 三階段變革模型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960120"/>
            <a:ext cx="1371600" cy="54864"/>
          </a:xfrm>
          <a:prstGeom prst="rect">
            <a:avLst/>
          </a:prstGeom>
          <a:solidFill>
            <a:srgbClr val="E883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 i="0">
                <a:solidFill>
                  <a:srgbClr val="8A93A3"/>
                </a:solidFill>
                <a:latin typeface="PingFang TC"/>
                <a:ea typeface="PingFang TC"/>
              </a:rPr>
              <a:t>組織理論｜從經典到現代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73952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000" b="1" i="0">
                <a:solidFill>
                  <a:srgbClr val="8A93A3"/>
                </a:solidFill>
                <a:latin typeface="PingFang TC"/>
                <a:ea typeface="PingFang TC"/>
              </a:rPr>
              <a:t>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737360"/>
            <a:ext cx="3520440" cy="265176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66928" y="1737360"/>
            <a:ext cx="3520440" cy="640080"/>
          </a:xfrm>
          <a:prstGeom prst="round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1856231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PingFang TC"/>
                <a:ea typeface="PingFang TC"/>
              </a:rPr>
              <a:t>① 解凍 Unfreeze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560320"/>
            <a:ext cx="301752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 i="0">
                <a:solidFill>
                  <a:srgbClr val="333945"/>
                </a:solidFill>
                <a:latin typeface="PingFang TC"/>
                <a:ea typeface="PingFang TC"/>
              </a:rPr>
              <a:t>製造不滿現狀的理由
拆掉「我們一直都這樣做」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87368" y="2743200"/>
            <a:ext cx="457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2400" b="1" i="0">
                <a:solidFill>
                  <a:srgbClr val="E8830C"/>
                </a:solidFill>
                <a:latin typeface="PingFang TC"/>
                <a:ea typeface="PingFang TC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0560" y="1737360"/>
            <a:ext cx="3520440" cy="265176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480560" y="1737360"/>
            <a:ext cx="3520440" cy="640080"/>
          </a:xfrm>
          <a:prstGeom prst="round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09160" y="1856231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PingFang TC"/>
                <a:ea typeface="PingFang TC"/>
              </a:rPr>
              <a:t>② 改變 Change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36592" y="2560320"/>
            <a:ext cx="301752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 i="0">
                <a:solidFill>
                  <a:srgbClr val="333945"/>
                </a:solidFill>
                <a:latin typeface="PingFang TC"/>
                <a:ea typeface="PingFang TC"/>
              </a:rPr>
              <a:t>導入新做法、新結構
提供訓練與支持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1000" y="2743200"/>
            <a:ext cx="457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2400" b="1" i="0">
                <a:solidFill>
                  <a:srgbClr val="E8830C"/>
                </a:solidFill>
                <a:latin typeface="PingFang TC"/>
                <a:ea typeface="PingFang TC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94192" y="1737360"/>
            <a:ext cx="3520440" cy="265176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394192" y="1737360"/>
            <a:ext cx="3520440" cy="640080"/>
          </a:xfrm>
          <a:prstGeom prst="roundRect">
            <a:avLst/>
          </a:prstGeom>
          <a:solidFill>
            <a:srgbClr val="3E7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22792" y="1856231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PingFang TC"/>
                <a:ea typeface="PingFang TC"/>
              </a:rPr>
              <a:t>③ 再凍結 Refreeze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50224" y="2560320"/>
            <a:ext cx="301752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 i="0">
                <a:solidFill>
                  <a:srgbClr val="333945"/>
                </a:solidFill>
                <a:latin typeface="PingFang TC"/>
                <a:ea typeface="PingFang TC"/>
              </a:rPr>
              <a:t>用制度、獎酬、文化
把新做法固定下來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4892040"/>
            <a:ext cx="11064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800" b="1" i="0">
                <a:solidFill>
                  <a:srgbClr val="E8830C"/>
                </a:solidFill>
                <a:latin typeface="PingFang TC"/>
                <a:ea typeface="PingFang TC"/>
              </a:rPr>
              <a:t>力場分析（Force Field Analysis）</a:t>
            </a:r>
          </a:p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600" b="0" i="0">
                <a:solidFill>
                  <a:srgbClr val="333945"/>
                </a:solidFill>
                <a:latin typeface="PingFang TC"/>
                <a:ea typeface="PingFang TC"/>
              </a:rPr>
              <a:t>驅動力 vs 抑制力同時存在；變革不是「推更用力」，而是減少抑制力（恐懼、誘因錯置、既得利益）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9875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800" b="1" i="0">
                <a:solidFill>
                  <a:srgbClr val="1F3864"/>
                </a:solidFill>
                <a:latin typeface="PingFang TC"/>
                <a:ea typeface="PingFang TC"/>
              </a:rPr>
              <a:t>Kotter 八步驟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960120"/>
            <a:ext cx="1371600" cy="54864"/>
          </a:xfrm>
          <a:prstGeom prst="rect">
            <a:avLst/>
          </a:prstGeom>
          <a:solidFill>
            <a:srgbClr val="E883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 i="0">
                <a:solidFill>
                  <a:srgbClr val="8A93A3"/>
                </a:solidFill>
                <a:latin typeface="PingFang TC"/>
                <a:ea typeface="PingFang TC"/>
              </a:rPr>
              <a:t>組織理論｜從經典到現代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73952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000" b="1" i="0">
                <a:solidFill>
                  <a:srgbClr val="8A93A3"/>
                </a:solidFill>
                <a:latin typeface="PingFang TC"/>
                <a:ea typeface="PingFang TC"/>
              </a:rPr>
              <a:t>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371600"/>
            <a:ext cx="5349240" cy="932688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371600"/>
            <a:ext cx="73152" cy="932688"/>
          </a:xfrm>
          <a:prstGeom prst="rect">
            <a:avLst/>
          </a:prstGeom>
          <a:solidFill>
            <a:srgbClr val="E883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463040"/>
            <a:ext cx="685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200" b="1" i="0">
                <a:solidFill>
                  <a:srgbClr val="E8830C"/>
                </a:solidFill>
                <a:latin typeface="PingFang TC"/>
                <a:ea typeface="PingFang TC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27048" y="1645920"/>
            <a:ext cx="4206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50" b="1" i="0">
                <a:solidFill>
                  <a:srgbClr val="1F3864"/>
                </a:solidFill>
                <a:latin typeface="PingFang TC"/>
                <a:ea typeface="PingFang TC"/>
              </a:rPr>
              <a:t>建立急迫感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487168"/>
            <a:ext cx="5349240" cy="932688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6928" y="2487168"/>
            <a:ext cx="73152" cy="932688"/>
          </a:xfrm>
          <a:prstGeom prst="rect">
            <a:avLst/>
          </a:prstGeom>
          <a:solidFill>
            <a:srgbClr val="E883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2578608"/>
            <a:ext cx="685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200" b="1" i="0">
                <a:solidFill>
                  <a:srgbClr val="E8830C"/>
                </a:solidFill>
                <a:latin typeface="PingFang TC"/>
                <a:ea typeface="PingFang T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7048" y="2761487"/>
            <a:ext cx="4206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50" b="1" i="0">
                <a:solidFill>
                  <a:srgbClr val="1F3864"/>
                </a:solidFill>
                <a:latin typeface="PingFang TC"/>
                <a:ea typeface="PingFang TC"/>
              </a:rPr>
              <a:t>組成領導聯盟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02736"/>
            <a:ext cx="5349240" cy="932688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66928" y="3602736"/>
            <a:ext cx="73152" cy="932688"/>
          </a:xfrm>
          <a:prstGeom prst="rect">
            <a:avLst/>
          </a:prstGeom>
          <a:solidFill>
            <a:srgbClr val="E883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694176"/>
            <a:ext cx="685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200" b="1" i="0">
                <a:solidFill>
                  <a:srgbClr val="E8830C"/>
                </a:solidFill>
                <a:latin typeface="PingFang TC"/>
                <a:ea typeface="PingFang TC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27048" y="3877056"/>
            <a:ext cx="4206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50" b="1" i="0">
                <a:solidFill>
                  <a:srgbClr val="1F3864"/>
                </a:solidFill>
                <a:latin typeface="PingFang TC"/>
                <a:ea typeface="PingFang TC"/>
              </a:rPr>
              <a:t>提出願景與策略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718304"/>
            <a:ext cx="5349240" cy="932688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66928" y="4718304"/>
            <a:ext cx="73152" cy="932688"/>
          </a:xfrm>
          <a:prstGeom prst="rect">
            <a:avLst/>
          </a:prstGeom>
          <a:solidFill>
            <a:srgbClr val="E883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4809744"/>
            <a:ext cx="685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200" b="1" i="0">
                <a:solidFill>
                  <a:srgbClr val="E8830C"/>
                </a:solidFill>
                <a:latin typeface="PingFang TC"/>
                <a:ea typeface="PingFang TC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27048" y="4992624"/>
            <a:ext cx="4206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50" b="1" i="0">
                <a:solidFill>
                  <a:srgbClr val="1F3864"/>
                </a:solidFill>
                <a:latin typeface="PingFang TC"/>
                <a:ea typeface="PingFang TC"/>
              </a:rPr>
              <a:t>溝通願景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81928" y="1371600"/>
            <a:ext cx="5349240" cy="932688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81928" y="1371600"/>
            <a:ext cx="73152" cy="932688"/>
          </a:xfrm>
          <a:prstGeom prst="rect">
            <a:avLst/>
          </a:prstGeom>
          <a:solidFill>
            <a:srgbClr val="E883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37960" y="1463040"/>
            <a:ext cx="685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200" b="1" i="0">
                <a:solidFill>
                  <a:srgbClr val="E8830C"/>
                </a:solidFill>
                <a:latin typeface="PingFang TC"/>
                <a:ea typeface="PingFang TC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42048" y="1645920"/>
            <a:ext cx="4206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50" b="1" i="0">
                <a:solidFill>
                  <a:srgbClr val="1F3864"/>
                </a:solidFill>
                <a:latin typeface="PingFang TC"/>
                <a:ea typeface="PingFang TC"/>
              </a:rPr>
              <a:t>授權行動、掃除障礙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81928" y="2487168"/>
            <a:ext cx="5349240" cy="932688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81928" y="2487168"/>
            <a:ext cx="73152" cy="932688"/>
          </a:xfrm>
          <a:prstGeom prst="rect">
            <a:avLst/>
          </a:prstGeom>
          <a:solidFill>
            <a:srgbClr val="E883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37960" y="2578608"/>
            <a:ext cx="685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200" b="1" i="0">
                <a:solidFill>
                  <a:srgbClr val="E8830C"/>
                </a:solidFill>
                <a:latin typeface="PingFang TC"/>
                <a:ea typeface="PingFang TC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42048" y="2761487"/>
            <a:ext cx="4206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50" b="1" i="0">
                <a:solidFill>
                  <a:srgbClr val="1F3864"/>
                </a:solidFill>
                <a:latin typeface="PingFang TC"/>
                <a:ea typeface="PingFang TC"/>
              </a:rPr>
              <a:t>創造短期戰果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81928" y="3602736"/>
            <a:ext cx="5349240" cy="932688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81928" y="3602736"/>
            <a:ext cx="73152" cy="932688"/>
          </a:xfrm>
          <a:prstGeom prst="rect">
            <a:avLst/>
          </a:prstGeom>
          <a:solidFill>
            <a:srgbClr val="E883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37960" y="3694176"/>
            <a:ext cx="685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200" b="1" i="0">
                <a:solidFill>
                  <a:srgbClr val="E8830C"/>
                </a:solidFill>
                <a:latin typeface="PingFang TC"/>
                <a:ea typeface="PingFang TC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42048" y="3877056"/>
            <a:ext cx="4206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50" b="1" i="0">
                <a:solidFill>
                  <a:srgbClr val="1F3864"/>
                </a:solidFill>
                <a:latin typeface="PingFang TC"/>
                <a:ea typeface="PingFang TC"/>
              </a:rPr>
              <a:t>鞏固成果、深化推進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81928" y="4718304"/>
            <a:ext cx="5349240" cy="932688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281928" y="4718304"/>
            <a:ext cx="73152" cy="932688"/>
          </a:xfrm>
          <a:prstGeom prst="rect">
            <a:avLst/>
          </a:prstGeom>
          <a:solidFill>
            <a:srgbClr val="E883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37960" y="4809744"/>
            <a:ext cx="685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200" b="1" i="0">
                <a:solidFill>
                  <a:srgbClr val="E8830C"/>
                </a:solidFill>
                <a:latin typeface="PingFang TC"/>
                <a:ea typeface="PingFang TC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42048" y="4992624"/>
            <a:ext cx="4206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50" b="1" i="0">
                <a:solidFill>
                  <a:srgbClr val="1F3864"/>
                </a:solidFill>
                <a:latin typeface="PingFang TC"/>
                <a:ea typeface="PingFang TC"/>
              </a:rPr>
              <a:t>深植於文化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6928" y="594360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50" b="0" i="0">
                <a:solidFill>
                  <a:srgbClr val="8A93A3"/>
                </a:solidFill>
                <a:latin typeface="PingFang TC"/>
                <a:ea typeface="PingFang TC"/>
              </a:rPr>
              <a:t>關鍵差異：Lewin 說「變什麼」，Kotter 說「怎麼帶」——前四步都在處理「人心」，不是制度。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331720"/>
            <a:ext cx="822960" cy="82296"/>
          </a:xfrm>
          <a:prstGeom prst="rect">
            <a:avLst/>
          </a:prstGeom>
          <a:solidFill>
            <a:srgbClr val="E883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3657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400" b="1" i="0">
                <a:solidFill>
                  <a:srgbClr val="E8830C"/>
                </a:solidFill>
                <a:latin typeface="PingFang TC"/>
                <a:ea typeface="PingFang TC"/>
              </a:rPr>
              <a:t>PART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0604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4400" b="1" i="0">
                <a:solidFill>
                  <a:srgbClr val="FFFFFF"/>
                </a:solidFill>
                <a:latin typeface="PingFang TC"/>
                <a:ea typeface="PingFang TC"/>
              </a:rPr>
              <a:t>當代議題與台灣案例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033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00" b="0" i="0">
                <a:solidFill>
                  <a:srgbClr val="B9C6DC"/>
                </a:solidFill>
                <a:latin typeface="PingFang TC"/>
                <a:ea typeface="PingFang TC"/>
              </a:rPr>
              <a:t>平台 · 敏捷 · AI · 遠距 — 組織理論的現在進行式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 i="0">
                <a:solidFill>
                  <a:srgbClr val="8A93A3"/>
                </a:solidFill>
                <a:latin typeface="PingFang TC"/>
                <a:ea typeface="PingFang TC"/>
              </a:rPr>
              <a:t>組織理論｜從經典到現代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73952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000" b="1" i="0">
                <a:solidFill>
                  <a:srgbClr val="8A93A3"/>
                </a:solidFill>
                <a:latin typeface="PingFang TC"/>
                <a:ea typeface="PingFang TC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9875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800" b="1" i="0">
                <a:solidFill>
                  <a:srgbClr val="1F3864"/>
                </a:solidFill>
                <a:latin typeface="PingFang TC"/>
                <a:ea typeface="PingFang TC"/>
              </a:rPr>
              <a:t>平台組織（Platform Organization）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960120"/>
            <a:ext cx="1371600" cy="54864"/>
          </a:xfrm>
          <a:prstGeom prst="rect">
            <a:avLst/>
          </a:prstGeom>
          <a:solidFill>
            <a:srgbClr val="E883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 i="0">
                <a:solidFill>
                  <a:srgbClr val="8A93A3"/>
                </a:solidFill>
                <a:latin typeface="PingFang TC"/>
                <a:ea typeface="PingFang TC"/>
              </a:rPr>
              <a:t>組織理論｜從經典到現代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73952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000" b="1" i="0">
                <a:solidFill>
                  <a:srgbClr val="8A93A3"/>
                </a:solidFill>
                <a:latin typeface="PingFang TC"/>
                <a:ea typeface="PingFang TC"/>
              </a:rPr>
              <a:t>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325880"/>
            <a:ext cx="1106424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800" b="1" i="0">
                <a:solidFill>
                  <a:srgbClr val="E8830C"/>
                </a:solidFill>
                <a:latin typeface="PingFang TC"/>
                <a:ea typeface="PingFang TC"/>
              </a:rPr>
              <a:t>特徵</a:t>
            </a:r>
          </a:p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600" b="0" i="0">
                <a:solidFill>
                  <a:srgbClr val="333945"/>
                </a:solidFill>
                <a:latin typeface="PingFang TC"/>
                <a:ea typeface="PingFang TC"/>
              </a:rPr>
              <a:t>連結兩邊以上市場（供給 × 需求），價值來自網絡效應</a:t>
            </a:r>
          </a:p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600" b="0" i="0">
                <a:solidFill>
                  <a:srgbClr val="333945"/>
                </a:solidFill>
                <a:latin typeface="PingFang TC"/>
                <a:ea typeface="PingFang TC"/>
              </a:rPr>
              <a:t>輕資產、以資料與演算法協調，而非層級命令</a:t>
            </a:r>
          </a:p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600" b="0" i="0">
                <a:solidFill>
                  <a:srgbClr val="333945"/>
                </a:solidFill>
                <a:latin typeface="PingFang TC"/>
                <a:ea typeface="PingFang TC"/>
              </a:rPr>
              <a:t>內部平台化：中台提供共用工能，前端小團隊快速實驗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800" b="1" i="0">
                <a:solidFill>
                  <a:srgbClr val="E8830C"/>
                </a:solidFill>
                <a:latin typeface="PingFang TC"/>
                <a:ea typeface="PingFang TC"/>
              </a:rPr>
              <a:t>挑戰</a:t>
            </a:r>
          </a:p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600" b="0" i="0">
                <a:solidFill>
                  <a:srgbClr val="333945"/>
                </a:solidFill>
                <a:latin typeface="PingFang TC"/>
                <a:ea typeface="PingFang TC"/>
              </a:rPr>
              <a:t>治理：生態系夥伴的規則、抽成與公平性</a:t>
            </a:r>
          </a:p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600" b="0" i="0">
                <a:solidFill>
                  <a:srgbClr val="333945"/>
                </a:solidFill>
                <a:latin typeface="PingFang TC"/>
                <a:ea typeface="PingFang TC"/>
              </a:rPr>
              <a:t>依賴風險：關鍵平台政策一改，商業模式立即受衝擊</a:t>
            </a:r>
          </a:p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600" b="0" i="0">
                <a:solidFill>
                  <a:srgbClr val="333945"/>
                </a:solidFill>
                <a:latin typeface="PingFang TC"/>
                <a:ea typeface="PingFang TC"/>
              </a:rPr>
              <a:t>法規與社會責任：獨占疑慮、零工勞動者權益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9875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800" b="1" i="0">
                <a:solidFill>
                  <a:srgbClr val="1F3864"/>
                </a:solidFill>
                <a:latin typeface="PingFang TC"/>
                <a:ea typeface="PingFang TC"/>
              </a:rPr>
              <a:t>敏捷 × AI × 遠距：三股改造力量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960120"/>
            <a:ext cx="1371600" cy="54864"/>
          </a:xfrm>
          <a:prstGeom prst="rect">
            <a:avLst/>
          </a:prstGeom>
          <a:solidFill>
            <a:srgbClr val="E883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 i="0">
                <a:solidFill>
                  <a:srgbClr val="8A93A3"/>
                </a:solidFill>
                <a:latin typeface="PingFang TC"/>
                <a:ea typeface="PingFang TC"/>
              </a:rPr>
              <a:t>組織理論｜從經典到現代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73952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000" b="1" i="0">
                <a:solidFill>
                  <a:srgbClr val="8A93A3"/>
                </a:solidFill>
                <a:latin typeface="PingFang TC"/>
                <a:ea typeface="PingFang TC"/>
              </a:rPr>
              <a:t>29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463040"/>
            <a:ext cx="3520440" cy="402336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66928" y="1463040"/>
            <a:ext cx="3520440" cy="621792"/>
          </a:xfrm>
          <a:prstGeom prst="round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1591056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PingFang TC"/>
                <a:ea typeface="PingFang TC"/>
              </a:rPr>
              <a:t>敏捷組織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286000"/>
            <a:ext cx="3017520" cy="3017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 i="0">
                <a:solidFill>
                  <a:srgbClr val="333945"/>
                </a:solidFill>
                <a:latin typeface="PingFang TC"/>
                <a:ea typeface="PingFang TC"/>
              </a:rPr>
              <a:t>小隊（squad）＋短週期迭代
決策下放到最接近
市場的一線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60" y="1463040"/>
            <a:ext cx="3520440" cy="402336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480560" y="1463040"/>
            <a:ext cx="3520440" cy="621792"/>
          </a:xfrm>
          <a:prstGeom prst="round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09160" y="1591056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PingFang TC"/>
                <a:ea typeface="PingFang TC"/>
              </a:rPr>
              <a:t>AI 與組織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2286000"/>
            <a:ext cx="3017520" cy="3017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 i="0">
                <a:solidFill>
                  <a:srgbClr val="333945"/>
                </a:solidFill>
                <a:latin typeface="PingFang TC"/>
                <a:ea typeface="PingFang TC"/>
              </a:rPr>
              <a:t>AI 吸收分析與監控工作
中層管理「資訊傳遞」
角色被壓縮、必須轉型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94192" y="1463040"/>
            <a:ext cx="3520440" cy="402336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394192" y="1463040"/>
            <a:ext cx="3520440" cy="621792"/>
          </a:xfrm>
          <a:prstGeom prst="roundRect">
            <a:avLst/>
          </a:prstGeom>
          <a:solidFill>
            <a:srgbClr val="3E7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22792" y="1591056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PingFang TC"/>
                <a:ea typeface="PingFang TC"/>
              </a:rPr>
              <a:t>遠距／混合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68512" y="2286000"/>
            <a:ext cx="3017520" cy="3017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 i="0">
                <a:solidFill>
                  <a:srgbClr val="333945"/>
                </a:solidFill>
                <a:latin typeface="PingFang TC"/>
                <a:ea typeface="PingFang TC"/>
              </a:rPr>
              <a:t>人才池跨地理擴大
但非正式互動、文化傳承
與信任更難經營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576072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 i="0">
                <a:solidFill>
                  <a:srgbClr val="8A93A3"/>
                </a:solidFill>
                <a:latin typeface="PingFang TC"/>
                <a:ea typeface="PingFang TC"/>
              </a:rPr>
              <a:t>共同命題：協調成本下降 → 組織可以更小、更扁、更快；但「信任與意義」變得更貴。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9875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800" b="1" i="0">
                <a:solidFill>
                  <a:srgbClr val="1F3864"/>
                </a:solidFill>
                <a:latin typeface="PingFang TC"/>
                <a:ea typeface="PingFang TC"/>
              </a:rPr>
              <a:t>台灣企業案例：理論照進現實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960120"/>
            <a:ext cx="1371600" cy="54864"/>
          </a:xfrm>
          <a:prstGeom prst="rect">
            <a:avLst/>
          </a:prstGeom>
          <a:solidFill>
            <a:srgbClr val="E883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 i="0">
                <a:solidFill>
                  <a:srgbClr val="8A93A3"/>
                </a:solidFill>
                <a:latin typeface="PingFang TC"/>
                <a:ea typeface="PingFang TC"/>
              </a:rPr>
              <a:t>組織理論｜從經典到現代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73952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000" b="1" i="0">
                <a:solidFill>
                  <a:srgbClr val="8A93A3"/>
                </a:solidFill>
                <a:latin typeface="PingFang TC"/>
                <a:ea typeface="PingFang TC"/>
              </a:rPr>
              <a:t>30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371600"/>
            <a:ext cx="11064240" cy="1353312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371600"/>
            <a:ext cx="82296" cy="1353312"/>
          </a:xfrm>
          <a:prstGeom prst="rect">
            <a:avLst/>
          </a:prstGeom>
          <a:solidFill>
            <a:srgbClr val="E883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508760"/>
            <a:ext cx="26517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700" b="1" i="0">
                <a:solidFill>
                  <a:srgbClr val="1F3864"/>
                </a:solidFill>
                <a:latin typeface="PingFang TC"/>
                <a:ea typeface="PingFang TC"/>
              </a:rPr>
              <a:t>台積電 TSMC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1508760"/>
            <a:ext cx="7772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50" b="0" i="0">
                <a:solidFill>
                  <a:srgbClr val="333945"/>
                </a:solidFill>
                <a:latin typeface="PingFang TC"/>
                <a:ea typeface="PingFang TC"/>
              </a:rPr>
              <a:t>製程標準化（機器官僚的極致）＋ 研發雙環學習與動態能力重構，聯盟模式（Alliance Mode）對外合作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07791"/>
            <a:ext cx="11064240" cy="1353312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6928" y="2907791"/>
            <a:ext cx="82296" cy="1353312"/>
          </a:xfrm>
          <a:prstGeom prst="rect">
            <a:avLst/>
          </a:prstGeom>
          <a:solidFill>
            <a:srgbClr val="E883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044951"/>
            <a:ext cx="26517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700" b="1" i="0">
                <a:solidFill>
                  <a:srgbClr val="1F3864"/>
                </a:solidFill>
                <a:latin typeface="PingFang TC"/>
                <a:ea typeface="PingFang TC"/>
              </a:rPr>
              <a:t>統一集團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3044951"/>
            <a:ext cx="7772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50" b="0" i="0">
                <a:solidFill>
                  <a:srgbClr val="333945"/>
                </a:solidFill>
                <a:latin typeface="PingFang TC"/>
                <a:ea typeface="PingFang TC"/>
              </a:rPr>
              <a:t>多角化下的「事業部制」：食品、零售、流通各自面對不同市場 → 差異化＋總部整合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443983"/>
            <a:ext cx="11064240" cy="1353312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66928" y="4443983"/>
            <a:ext cx="82296" cy="1353312"/>
          </a:xfrm>
          <a:prstGeom prst="rect">
            <a:avLst/>
          </a:prstGeom>
          <a:solidFill>
            <a:srgbClr val="E883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581144"/>
            <a:ext cx="26517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700" b="1" i="0">
                <a:solidFill>
                  <a:srgbClr val="1F3864"/>
                </a:solidFill>
                <a:latin typeface="PingFang TC"/>
                <a:ea typeface="PingFang TC"/>
              </a:rPr>
              <a:t>鴻海 Foxconn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4581144"/>
            <a:ext cx="7772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50" b="0" i="0">
                <a:solidFill>
                  <a:srgbClr val="333945"/>
                </a:solidFill>
                <a:latin typeface="PingFang TC"/>
                <a:ea typeface="PingFang TC"/>
              </a:rPr>
              <a:t>全球長鏈型技術＋軍事化效率；規模巔峰後面臨自動化、AI 伺服器與治理轉型的變革壓力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03504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50" b="0" i="0">
                <a:solidFill>
                  <a:srgbClr val="8A93A3"/>
                </a:solidFill>
                <a:latin typeface="PingFang TC"/>
                <a:ea typeface="PingFang TC"/>
              </a:rPr>
              <a:t>課堂練習：各用「一個學派概念」診斷一家你最熟悉的台灣企業。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914400"/>
            <a:ext cx="914400" cy="82296"/>
          </a:xfrm>
          <a:prstGeom prst="rect">
            <a:avLst/>
          </a:prstGeom>
          <a:solidFill>
            <a:srgbClr val="E883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14300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PingFang TC"/>
                <a:ea typeface="PingFang TC"/>
              </a:rPr>
              <a:t>總結：一條主線看懂組織理論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377440"/>
            <a:ext cx="1371600" cy="502920"/>
          </a:xfrm>
          <a:prstGeom prst="round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450592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PingFang TC"/>
                <a:ea typeface="PingFang TC"/>
              </a:rPr>
              <a:t>古典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3017520"/>
            <a:ext cx="15544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B9C6DC"/>
                </a:solidFill>
                <a:latin typeface="PingFang TC"/>
                <a:ea typeface="PingFang TC"/>
              </a:rPr>
              <a:t>分工·層級·規章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95728" y="2377440"/>
            <a:ext cx="1371600" cy="502920"/>
          </a:xfrm>
          <a:prstGeom prst="round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95728" y="2450592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PingFang TC"/>
                <a:ea typeface="PingFang TC"/>
              </a:rPr>
              <a:t>人際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40864" y="3017520"/>
            <a:ext cx="15544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B9C6DC"/>
                </a:solidFill>
                <a:latin typeface="PingFang TC"/>
                <a:ea typeface="PingFang TC"/>
              </a:rPr>
              <a:t>社會人·非正式組織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968496" y="2377440"/>
            <a:ext cx="1371600" cy="502920"/>
          </a:xfrm>
          <a:prstGeom prst="round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68496" y="2450592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PingFang TC"/>
                <a:ea typeface="PingFang TC"/>
              </a:rPr>
              <a:t>開放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13632" y="3017520"/>
            <a:ext cx="15544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B9C6DC"/>
                </a:solidFill>
                <a:latin typeface="PingFang TC"/>
                <a:ea typeface="PingFang TC"/>
              </a:rPr>
              <a:t>環境·系統·不確定性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541264" y="2377440"/>
            <a:ext cx="1371600" cy="502920"/>
          </a:xfrm>
          <a:prstGeom prst="round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41264" y="2450592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PingFang TC"/>
                <a:ea typeface="PingFang TC"/>
              </a:rPr>
              <a:t>權變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3017520"/>
            <a:ext cx="15544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B9C6DC"/>
                </a:solidFill>
                <a:latin typeface="PingFang TC"/>
                <a:ea typeface="PingFang TC"/>
              </a:rPr>
              <a:t>配適：沒有最佳解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14032" y="2377440"/>
            <a:ext cx="1371600" cy="502920"/>
          </a:xfrm>
          <a:prstGeom prst="round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14032" y="2450592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PingFang TC"/>
                <a:ea typeface="PingFang TC"/>
              </a:rPr>
              <a:t>學習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59168" y="3017520"/>
            <a:ext cx="15544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B9C6DC"/>
                </a:solidFill>
                <a:latin typeface="PingFang TC"/>
                <a:ea typeface="PingFang TC"/>
              </a:rPr>
              <a:t>能力·雙環·五項修練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0" y="2377440"/>
            <a:ext cx="1371600" cy="502920"/>
          </a:xfrm>
          <a:prstGeom prst="round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0" y="2450592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PingFang TC"/>
                <a:ea typeface="PingFang TC"/>
              </a:rPr>
              <a:t>變革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31936" y="3017520"/>
            <a:ext cx="15544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B9C6DC"/>
                </a:solidFill>
                <a:latin typeface="PingFang TC"/>
                <a:ea typeface="PingFang TC"/>
              </a:rPr>
              <a:t>解凍→改變→再凍結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259568" y="2377440"/>
            <a:ext cx="1371600" cy="502920"/>
          </a:xfrm>
          <a:prstGeom prst="roundRect">
            <a:avLst/>
          </a:prstGeom>
          <a:solidFill>
            <a:srgbClr val="E883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259568" y="2450592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PingFang TC"/>
                <a:ea typeface="PingFang TC"/>
              </a:rPr>
              <a:t>數位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04704" y="3017520"/>
            <a:ext cx="15544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B9C6DC"/>
                </a:solidFill>
                <a:latin typeface="PingFang TC"/>
                <a:ea typeface="PingFang TC"/>
              </a:rPr>
              <a:t>平台·敏捷·AI·遠距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4206240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800" b="1" i="0">
                <a:solidFill>
                  <a:srgbClr val="E8830C"/>
                </a:solidFill>
                <a:latin typeface="PingFang TC"/>
                <a:ea typeface="PingFang TC"/>
              </a:rPr>
              <a:t>帶走的三個問題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4800600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PingFang TC"/>
                <a:ea typeface="PingFang TC"/>
              </a:rPr>
              <a:t>① 我們的環境是穩定還是動盪？結構配得上嗎？（權變）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5303520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PingFang TC"/>
                <a:ea typeface="PingFang TC"/>
              </a:rPr>
              <a:t>② 資訊在組織裡怎麼流動？協調靠命令還是靠對話？（設計）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5806440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PingFang TC"/>
                <a:ea typeface="PingFang TC"/>
              </a:rPr>
              <a:t>③ 我們會檢討「做法」，但敢檢討「前提」嗎？（雙環學習）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6355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CC9"/>
                </a:solidFill>
                <a:latin typeface="PingFang TC"/>
                <a:ea typeface="PingFang TC"/>
              </a:rPr>
              <a:t>組織理論｜從經典到現代 · 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