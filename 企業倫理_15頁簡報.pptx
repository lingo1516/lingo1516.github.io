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800000"/>
            <a:ext cx="121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</a:rPr>
              <a:t>企業倫理案例分析
與實務應用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0" y="3900000"/>
            <a:ext cx="1000000" cy="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2E75B6"/>
                </a:solidFill>
                <a:latin typeface="Microsoft JhengHei"/>
              </a:rPr>
              <a:t>──────────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50000"/>
            <a:ext cx="12192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0">
                <a:solidFill>
                  <a:srgbClr val="CCCCCC"/>
                </a:solidFill>
                <a:latin typeface="Microsoft JhengHei"/>
              </a:rPr>
              <a:t>從理論到實踐的倫理決策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500000"/>
            <a:ext cx="12192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999999"/>
                </a:solidFill>
                <a:latin typeface="Microsoft JhengHei"/>
              </a:rPr>
              <a:t>企業倫理課程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0000"/>
            <a:ext cx="103632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今日內容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00000"/>
            <a:ext cx="103632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01    企業倫理的定義與重要性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02    四大核心價值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03    常見倫理問題類型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04    案例一：供應鏈倫理爭議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05    案例二：數據倫理與隱私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06    實施策略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07    倫理領導與組織文化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08    結論：從合規到共好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01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企業倫理的定義與重要性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02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四大核心價值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03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常見倫理問題類型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04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案例一：供應鏈倫理爭議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05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案例二：數據倫理與隱私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06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實施策略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07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倫理領導與組織文化</a:t>
            </a:r>
          </a:p>
          <a:p>
            <a:pPr>
              <a:spcBef>
                <a:spcPts val="600"/>
              </a:spcBef>
              <a:spcAft>
                <a:spcPts val="1000"/>
              </a:spcAft>
            </a:pPr>
            <a:r>
              <a:rPr sz="2000" b="1">
                <a:solidFill>
                  <a:srgbClr val="2E75B6"/>
                </a:solidFill>
                <a:latin typeface="Microsoft JhengHei"/>
              </a:rPr>
              <a:t>08  </a:t>
            </a:r>
            <a:r>
              <a:rPr sz="2000" b="0">
                <a:solidFill>
                  <a:srgbClr val="1A1A1A"/>
                </a:solidFill>
                <a:latin typeface="Microsoft JhengHei"/>
              </a:rPr>
              <a:t>結論：從合規到共好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倫理是企業長期價值的基石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08000"/>
            <a:ext cx="103632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▸ 企業倫理：組織在經營活動中應遵循的道德原則與行為規範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▸ 不僅關乎合法，更關乎「什麼是對的決定」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統計數據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2023 Edelman Trust Barometer：58% 消費者會因倫理爭議抵制品牌</a:t>
            </a:r>
          </a:p>
        </p:txBody>
      </p:sp>
      <p:sp>
        <p:nvSpPr>
          <p:cNvPr id="5" name="Rectangle 4"/>
          <p:cNvSpPr/>
          <p:nvPr/>
        </p:nvSpPr>
        <p:spPr>
          <a:xfrm>
            <a:off x="61360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財務影響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高 ESG 評級企業的股價波動率平均低 15%（MSCI, 2024）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誠信、透明、問責、公平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800000"/>
            <a:ext cx="10363200" cy="500000"/>
          </a:xfrm>
          <a:prstGeom prst="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JhengHei"/>
              </a:rPr>
              <a:t>四大核心價值構成企業倫理決策的判斷座標系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誠信（Integrity）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言行一致，即使無人監督也堅守承諾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透明（Transparency）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資訊公開、決策過程可被檢視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問責（Accountability）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為自身決策與行為承擔責任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公平（Fairness）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利益相關者之間的利益平衡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從供應鏈到數據治理的多面向挑戰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800000"/>
            <a:ext cx="10363200" cy="500000"/>
          </a:xfrm>
          <a:prstGeom prst="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JhengHei"/>
              </a:rPr>
              <a:t>2024 全球企業倫理調查：68% 的受訪企業曾遭遇至少一項重大倫理事件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供應鏈人權：強迫勞動、工時過長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環境污染：廢棄物排放、碳排隱瞞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產品安全：品質瑕疵隱匿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數據隱私：用戶資料未經授權使用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利益衝突：供應商回扣與不當關係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icrosoft JhengHei"/>
              </a:rPr>
              <a:t>稅務規劃：跨國避稅與社會責任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案例一：某科技公司的供應鏈倫理爭議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背景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某國際消費電子品牌被爆出供應商使用強迫勞動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涉及東南亞數家代工廠，員工每日工時達 14 小時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違反國際勞工組織（ILO）核心公約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數據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NGO 調查報告揭露後，該品牌市值單日蒸發 5.2%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社群媒體負面聲量在 48 小時內成長 340%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三家國際客戶宣布暫停合作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監管失靈與品牌信譽風險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核心問題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供應鏈深度外包，終端品牌對 Tier 2/3 供應商缺乏監管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1360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影響層面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品牌信譽受損（72% 消費者表示不信任該品牌後續聲明）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道德風險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成本壓力轉嫁供應商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稽查流於形式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法律風險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歐盟 CSDDD 要求企業盡職調查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美國 UFLPA 推定強迫勞動產品禁止進口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建立可追溯、可驗證的倫理供應鏈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800000"/>
            <a:ext cx="10363200" cy="500000"/>
          </a:xfrm>
          <a:prstGeom prst="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JhengHei"/>
              </a:rPr>
              <a:t>Patagonia 案例：全面供應鏈透明化後，營收反而成長 28%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預防機制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供應商分級管理制度（Tier 1–3 全面覆蓋）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第三方突擊審計取代預告式稽查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區塊鏈溯源技術記錄產品生命週期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文化建設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將倫理評分納入供應商遴選權重（≥ 20%）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建立吹哨者保護機制與匿名通報管道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定期舉辦供應商倫理教育訓練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案例二：社群平台的隱私與數據倫理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事件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某社群平台被揭露未經用戶同意，將 8,700 萬筆資料提供給第三方分析公司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資料用於政治廣告定向投放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用戶完全不知情，也未獲得選擇退出機會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衝擊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美國 FTC 罰款 50 億美元（史上最高隱私罰款）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活躍用戶在事件後一年減少約 2%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各國加速推動數據保護立法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用戶信任與商業利益的零和賽局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結構性矛盾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廣告收入模式驅動數據極大化收集，與用戶隱私權直接衝突</a:t>
            </a:r>
          </a:p>
        </p:txBody>
      </p:sp>
      <p:sp>
        <p:nvSpPr>
          <p:cNvPr id="4" name="Rectangle 3"/>
          <p:cNvSpPr/>
          <p:nvPr/>
        </p:nvSpPr>
        <p:spPr>
          <a:xfrm>
            <a:off x="61360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信任代價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事件後該平台信任指數下降 66%（由 79% 降至 27%）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倫理缺失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告知同意流於形式（80% 用戶從未閱讀隱私政策）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資料使用目的與收集目的不一致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監管回應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歐盟 GDPR 最高罰款為全球營收 4%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台灣個資法修正條文提高罰則至 1,500 萬元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數據治理的倫理框架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800000"/>
            <a:ext cx="10363200" cy="500000"/>
          </a:xfrm>
          <a:prstGeom prst="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JhengHei"/>
              </a:rPr>
              <a:t>Apple 隱私標籤與 ATT 框架：將用戶選擇權還給使用者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隱私設計（Privacy by Design）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產品開發階段即嵌入隱私保護機制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資料最小化原則：只收集必要的數據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用戶資料權：查閱、修改、刪除的權利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治理機制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設置獨立的資料倫理委員會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定期發布透明度報告（政府請求次數、資料使用統計）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導入資料保護影響評估（DPIA）流程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從政策制定到落實執行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實施效益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擁有完整倫理計畫的企業，員工離職率低 22%（Ethisphere, 2024）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36000" y="3200000"/>
            <a:ext cx="5141600" cy="900000"/>
          </a:xfrm>
          <a:prstGeom prst="rect">
            <a:avLst/>
          </a:prstGeom>
          <a:solidFill>
            <a:srgbClr val="F5F8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Microsoft JhengHei"/>
              </a:rPr>
              <a:t>國際標準</a:t>
            </a:r>
          </a:p>
          <a:p>
            <a:r>
              <a:rPr sz="1600" b="0">
                <a:solidFill>
                  <a:srgbClr val="1A1A1A"/>
                </a:solidFill>
                <a:latin typeface="Microsoft JhengHei"/>
              </a:rPr>
              <a:t>ISO 37001 反賄賂管理系統、ISO 26000 社會責任指引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制度層面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制定倫理守則（Code of Conduct）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設立倫理長（Chief Ethics Officer）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建立倫理風險評估機制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執行層面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倫理訓練納入新人必修與年度回訓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倫理績效納入 KPI 與獎酬設計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吹哨者保護與匿名通報平台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高層示範是倫理文化的起點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800000"/>
            <a:ext cx="10363200" cy="500000"/>
          </a:xfrm>
          <a:prstGeom prst="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JhengHei"/>
              </a:rPr>
              <a:t>Enron 崩潰的教訓：當「結果」凌駕「手段」，倫理文化蕩然無存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領導者的角色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言行一致：管理層行為需符合倫理守則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獎懲分明：倫理表率應受表揚，違規應被究責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公開承諾：將倫理目標納入年度股東報告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組織文化指標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員工是否敢於提出倫理疑慮？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團隊會議是否討論倫理議題？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短期績效能否凌駕倫理原則？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8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從合規到共好 — 超越法規的永續競爭力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800000"/>
            <a:ext cx="10363200" cy="500000"/>
          </a:xfrm>
          <a:prstGeom prst="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5B6"/>
                </a:solidFill>
                <a:latin typeface="Microsoft JhengHei"/>
              </a:rPr>
              <a:t>企業倫理不是成本，是投資。每一次倫理選擇，都在定義企業的未來。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合規（Compliance）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符合法規最低標準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被動回應外部要求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短期風險管理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6000" y="1408000"/>
            <a:ext cx="5101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F4E79"/>
                </a:solidFill>
                <a:latin typeface="Microsoft JhengHei"/>
              </a:rPr>
              <a:t>共好（Common Good）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主動創造社會價值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超越法規的倫理承諾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▸ 長期競爭優勢來源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0000"/>
            <a:ext cx="103632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參考資料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00000"/>
            <a:ext cx="103632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Edelman. (2023). Edelman Trust Barometer 2023.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MSCI. (2024). ESG Ratings and Corporate Financial Performance.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Ethisphere. (2024). World's Most Ethical Companies Report.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European Commission. (2024). Corporate Sustainability Due Diligence Directive.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U.S. Congress. (2021). Uyghur Forced Labor Prevention Act.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FTC. (2019). In the Matter of Facebook, Inc., Docket No. C-4695.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ILO. (1998). Declaration on Fundamental Principles and Rights at Work.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ISO. (2016). ISO 37001 Anti-bribery Management Systems.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ISO. (2010). ISO 26000 Guidance on Social Responsibility.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